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1.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sldIdLst>
    <p:sldId id="274" r:id="rId2"/>
    <p:sldId id="256" r:id="rId3"/>
    <p:sldId id="257" r:id="rId4"/>
    <p:sldId id="258" r:id="rId5"/>
    <p:sldId id="259" r:id="rId6"/>
    <p:sldId id="263" r:id="rId7"/>
    <p:sldId id="276" r:id="rId8"/>
    <p:sldId id="261" r:id="rId9"/>
    <p:sldId id="260" r:id="rId10"/>
    <p:sldId id="265" r:id="rId11"/>
    <p:sldId id="264" r:id="rId12"/>
    <p:sldId id="266" r:id="rId13"/>
    <p:sldId id="267" r:id="rId14"/>
    <p:sldId id="268" r:id="rId15"/>
    <p:sldId id="269" r:id="rId16"/>
    <p:sldId id="270" r:id="rId17"/>
    <p:sldId id="271" r:id="rId18"/>
    <p:sldId id="272"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C:\Users\tjtar\Downloads\assigment\CPI%20DATA%203.xlsx" TargetMode="External"/><Relationship Id="rId2" Type="http://schemas.microsoft.com/office/2011/relationships/chartColorStyle" Target="colors19.xml"/><Relationship Id="rId1" Type="http://schemas.microsoft.com/office/2011/relationships/chartStyle" Target="style1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dk1">
                    <a:lumMod val="75000"/>
                    <a:lumOff val="25000"/>
                  </a:schemeClr>
                </a:solidFill>
                <a:latin typeface="+mn-lt"/>
                <a:ea typeface="+mn-ea"/>
                <a:cs typeface="+mn-cs"/>
              </a:defRPr>
            </a:pPr>
            <a:r>
              <a:rPr lang="en-US" sz="1600" dirty="0"/>
              <a:t>Contribution of Broder Categories for Rural Sector</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tx>
            <c:strRef>
              <c:f>'PS1'!$C$4</c:f>
              <c:strCache>
                <c:ptCount val="1"/>
                <c:pt idx="0">
                  <c:v>Rural</c:v>
                </c:pt>
              </c:strCache>
            </c:strRef>
          </c:tx>
          <c:dPt>
            <c:idx val="0"/>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6885-44FA-B177-8705B2F51DAE}"/>
              </c:ext>
            </c:extLst>
          </c:dPt>
          <c:dPt>
            <c:idx val="1"/>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6885-44FA-B177-8705B2F51DAE}"/>
              </c:ext>
            </c:extLst>
          </c:dPt>
          <c:dPt>
            <c:idx val="2"/>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6885-44FA-B177-8705B2F51DAE}"/>
              </c:ext>
            </c:extLst>
          </c:dPt>
          <c:dPt>
            <c:idx val="3"/>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6885-44FA-B177-8705B2F51DAE}"/>
              </c:ext>
            </c:extLst>
          </c:dPt>
          <c:dPt>
            <c:idx val="4"/>
            <c:bubble3D val="0"/>
            <c:spPr>
              <a:solidFill>
                <a:schemeClr val="accent5">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6885-44FA-B177-8705B2F51DAE}"/>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'PS1'!$B$5:$B$9</c:f>
              <c:strCache>
                <c:ptCount val="5"/>
                <c:pt idx="0">
                  <c:v>Food Basket</c:v>
                </c:pt>
                <c:pt idx="1">
                  <c:v>Clothing and footwear</c:v>
                </c:pt>
                <c:pt idx="2">
                  <c:v>Home &amp; Essentials</c:v>
                </c:pt>
                <c:pt idx="3">
                  <c:v>Essentials</c:v>
                </c:pt>
                <c:pt idx="4">
                  <c:v>Luxury</c:v>
                </c:pt>
              </c:strCache>
            </c:strRef>
          </c:cat>
          <c:val>
            <c:numRef>
              <c:f>'PS1'!$C$5:$C$9</c:f>
              <c:numCache>
                <c:formatCode>General</c:formatCode>
                <c:ptCount val="5"/>
                <c:pt idx="0">
                  <c:v>2290.7000000000007</c:v>
                </c:pt>
                <c:pt idx="1">
                  <c:v>569.90000000000009</c:v>
                </c:pt>
                <c:pt idx="2">
                  <c:v>537.90000000000009</c:v>
                </c:pt>
                <c:pt idx="3">
                  <c:v>722.69999999999993</c:v>
                </c:pt>
                <c:pt idx="4">
                  <c:v>553.20000000000005</c:v>
                </c:pt>
              </c:numCache>
            </c:numRef>
          </c:val>
          <c:extLst>
            <c:ext xmlns:c16="http://schemas.microsoft.com/office/drawing/2014/chart" uri="{C3380CC4-5D6E-409C-BE32-E72D297353CC}">
              <c16:uniqueId val="{0000000A-6885-44FA-B177-8705B2F51DAE}"/>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6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dk1">
                    <a:lumMod val="75000"/>
                    <a:lumOff val="25000"/>
                  </a:schemeClr>
                </a:solidFill>
                <a:latin typeface="+mn-lt"/>
                <a:ea typeface="+mn-ea"/>
                <a:cs typeface="+mn-cs"/>
              </a:defRPr>
            </a:pPr>
            <a:r>
              <a:rPr lang="en-US" sz="1600" b="1" i="0" u="none" strike="noStrike" kern="1200" baseline="0" dirty="0">
                <a:solidFill>
                  <a:prstClr val="black">
                    <a:lumMod val="75000"/>
                    <a:lumOff val="25000"/>
                  </a:prstClr>
                </a:solidFill>
              </a:rPr>
              <a:t>Contribution of Broder Categories for</a:t>
            </a:r>
            <a:r>
              <a:rPr lang="en-US" sz="1600" dirty="0"/>
              <a:t> Urban Sector</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tx>
            <c:strRef>
              <c:f>'PS1'!$C$20</c:f>
              <c:strCache>
                <c:ptCount val="1"/>
                <c:pt idx="0">
                  <c:v>Urban</c:v>
                </c:pt>
              </c:strCache>
            </c:strRef>
          </c:tx>
          <c:dPt>
            <c:idx val="0"/>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17BE-49E6-B814-EA4784415E2B}"/>
              </c:ext>
            </c:extLst>
          </c:dPt>
          <c:dPt>
            <c:idx val="1"/>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17BE-49E6-B814-EA4784415E2B}"/>
              </c:ext>
            </c:extLst>
          </c:dPt>
          <c:dPt>
            <c:idx val="2"/>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17BE-49E6-B814-EA4784415E2B}"/>
              </c:ext>
            </c:extLst>
          </c:dPt>
          <c:dPt>
            <c:idx val="3"/>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17BE-49E6-B814-EA4784415E2B}"/>
              </c:ext>
            </c:extLst>
          </c:dPt>
          <c:dPt>
            <c:idx val="4"/>
            <c:bubble3D val="0"/>
            <c:spPr>
              <a:solidFill>
                <a:schemeClr val="accent5">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17BE-49E6-B814-EA4784415E2B}"/>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'PS1'!$B$21:$B$25</c:f>
              <c:strCache>
                <c:ptCount val="5"/>
                <c:pt idx="0">
                  <c:v>Food Basket</c:v>
                </c:pt>
                <c:pt idx="1">
                  <c:v>Clothing and footwear</c:v>
                </c:pt>
                <c:pt idx="2">
                  <c:v>Home &amp; Essentials</c:v>
                </c:pt>
                <c:pt idx="3">
                  <c:v>Essentials</c:v>
                </c:pt>
                <c:pt idx="4">
                  <c:v>Luxury</c:v>
                </c:pt>
              </c:strCache>
            </c:strRef>
          </c:cat>
          <c:val>
            <c:numRef>
              <c:f>'PS1'!$C$21:$C$25</c:f>
              <c:numCache>
                <c:formatCode>General</c:formatCode>
                <c:ptCount val="5"/>
                <c:pt idx="0">
                  <c:v>2335.1</c:v>
                </c:pt>
                <c:pt idx="1">
                  <c:v>528.70000000000005</c:v>
                </c:pt>
                <c:pt idx="2">
                  <c:v>529.1</c:v>
                </c:pt>
                <c:pt idx="3">
                  <c:v>703.00000000000011</c:v>
                </c:pt>
                <c:pt idx="4">
                  <c:v>545</c:v>
                </c:pt>
              </c:numCache>
            </c:numRef>
          </c:val>
          <c:extLst>
            <c:ext xmlns:c16="http://schemas.microsoft.com/office/drawing/2014/chart" uri="{C3380CC4-5D6E-409C-BE32-E72D297353CC}">
              <c16:uniqueId val="{0000000A-17BE-49E6-B814-EA4784415E2B}"/>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6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1" i="0" u="none" strike="noStrike" kern="1200" baseline="0">
                <a:solidFill>
                  <a:schemeClr val="dk1">
                    <a:lumMod val="75000"/>
                    <a:lumOff val="25000"/>
                  </a:schemeClr>
                </a:solidFill>
                <a:latin typeface="+mn-lt"/>
                <a:ea typeface="+mn-ea"/>
                <a:cs typeface="+mn-cs"/>
              </a:defRPr>
            </a:pPr>
            <a:r>
              <a:rPr lang="en-US" sz="2400" b="1" i="0" u="none" strike="noStrike" kern="1200" baseline="0" dirty="0">
                <a:solidFill>
                  <a:prstClr val="black">
                    <a:lumMod val="75000"/>
                    <a:lumOff val="25000"/>
                  </a:prstClr>
                </a:solidFill>
              </a:rPr>
              <a:t>Contribution of Broder Categories for</a:t>
            </a:r>
            <a:r>
              <a:rPr lang="en-US" sz="2400" dirty="0"/>
              <a:t> Rural + Urban </a:t>
            </a:r>
          </a:p>
        </c:rich>
      </c:tx>
      <c:overlay val="0"/>
      <c:spPr>
        <a:noFill/>
        <a:ln>
          <a:noFill/>
        </a:ln>
        <a:effectLst/>
      </c:spPr>
      <c:txPr>
        <a:bodyPr rot="0" spcFirstLastPara="1" vertOverflow="ellipsis" vert="horz" wrap="square" anchor="ctr" anchorCtr="1"/>
        <a:lstStyle/>
        <a:p>
          <a:pPr>
            <a:defRPr sz="24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tx>
            <c:strRef>
              <c:f>'PS1'!$P$5</c:f>
              <c:strCache>
                <c:ptCount val="1"/>
                <c:pt idx="0">
                  <c:v>Rural+Urban sum</c:v>
                </c:pt>
              </c:strCache>
            </c:strRef>
          </c:tx>
          <c:dPt>
            <c:idx val="0"/>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EE33-45D0-98E4-695FBAF20B5D}"/>
              </c:ext>
            </c:extLst>
          </c:dPt>
          <c:dPt>
            <c:idx val="1"/>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EE33-45D0-98E4-695FBAF20B5D}"/>
              </c:ext>
            </c:extLst>
          </c:dPt>
          <c:dPt>
            <c:idx val="2"/>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EE33-45D0-98E4-695FBAF20B5D}"/>
              </c:ext>
            </c:extLst>
          </c:dPt>
          <c:dPt>
            <c:idx val="3"/>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EE33-45D0-98E4-695FBAF20B5D}"/>
              </c:ext>
            </c:extLst>
          </c:dPt>
          <c:dPt>
            <c:idx val="4"/>
            <c:bubble3D val="0"/>
            <c:spPr>
              <a:solidFill>
                <a:schemeClr val="accent5">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EE33-45D0-98E4-695FBAF20B5D}"/>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240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'PS1'!$O$6:$O$10</c:f>
              <c:strCache>
                <c:ptCount val="5"/>
                <c:pt idx="0">
                  <c:v>Food Basket</c:v>
                </c:pt>
                <c:pt idx="1">
                  <c:v>Clothing and footwear</c:v>
                </c:pt>
                <c:pt idx="2">
                  <c:v>Home &amp; Essentials</c:v>
                </c:pt>
                <c:pt idx="3">
                  <c:v>Essentials</c:v>
                </c:pt>
                <c:pt idx="4">
                  <c:v>Luxury</c:v>
                </c:pt>
              </c:strCache>
            </c:strRef>
          </c:cat>
          <c:val>
            <c:numRef>
              <c:f>'PS1'!$P$6:$P$10</c:f>
              <c:numCache>
                <c:formatCode>General</c:formatCode>
                <c:ptCount val="5"/>
                <c:pt idx="0">
                  <c:v>2306.9</c:v>
                </c:pt>
                <c:pt idx="1">
                  <c:v>553.20000000000005</c:v>
                </c:pt>
                <c:pt idx="2">
                  <c:v>533.59999999999991</c:v>
                </c:pt>
                <c:pt idx="3">
                  <c:v>712.8</c:v>
                </c:pt>
                <c:pt idx="4">
                  <c:v>547.9</c:v>
                </c:pt>
              </c:numCache>
            </c:numRef>
          </c:val>
          <c:extLst>
            <c:ext xmlns:c16="http://schemas.microsoft.com/office/drawing/2014/chart" uri="{C3380CC4-5D6E-409C-BE32-E72D297353CC}">
              <c16:uniqueId val="{0000000A-EE33-45D0-98E4-695FBAF20B5D}"/>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76969876972221063"/>
          <c:y val="0.1207920891154078"/>
          <c:w val="0.22389904715014633"/>
          <c:h val="0.72948518361737813"/>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20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r>
              <a:rPr lang="en-US" dirty="0"/>
              <a:t>Y-O-Y inflation </a:t>
            </a:r>
            <a:r>
              <a:rPr lang="en-US" sz="1400" b="1" i="0" u="none" strike="noStrike" kern="1200" cap="none" baseline="0" dirty="0">
                <a:solidFill>
                  <a:sysClr val="window" lastClr="FFFFFF">
                    <a:lumMod val="85000"/>
                  </a:sysClr>
                </a:solidFill>
              </a:rPr>
              <a:t>for (Rural + Urban) Sector</a:t>
            </a:r>
            <a:r>
              <a:rPr lang="en-US" dirty="0"/>
              <a:t> </a:t>
            </a:r>
          </a:p>
        </c:rich>
      </c:tx>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lotArea>
      <c:layout/>
      <c:scatterChart>
        <c:scatterStyle val="lineMarker"/>
        <c:varyColors val="0"/>
        <c:ser>
          <c:idx val="0"/>
          <c:order val="0"/>
          <c:tx>
            <c:strRef>
              <c:f>'PS2'!$B$1</c:f>
              <c:strCache>
                <c:ptCount val="1"/>
                <c:pt idx="0">
                  <c:v>yoy inflation </c:v>
                </c:pt>
              </c:strCache>
            </c:strRef>
          </c:tx>
          <c:spPr>
            <a:ln w="22225" cap="rnd">
              <a:solidFill>
                <a:schemeClr val="accent2"/>
              </a:solidFill>
            </a:ln>
            <a:effectLst>
              <a:glow rad="139700">
                <a:schemeClr val="accent2">
                  <a:satMod val="175000"/>
                  <a:alpha val="14000"/>
                </a:schemeClr>
              </a:glow>
            </a:effectLst>
          </c:spPr>
          <c:marker>
            <c:symbol val="circle"/>
            <c:size val="3"/>
            <c:spPr>
              <a:solidFill>
                <a:schemeClr val="accent2">
                  <a:lumMod val="60000"/>
                  <a:lumOff val="40000"/>
                </a:schemeClr>
              </a:solidFill>
              <a:ln>
                <a:noFill/>
              </a:ln>
              <a:effectLst>
                <a:glow rad="63500">
                  <a:schemeClr val="accent2">
                    <a:satMod val="175000"/>
                    <a:alpha val="25000"/>
                  </a:schemeClr>
                </a:glow>
              </a:effectLst>
            </c:spPr>
          </c:marker>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lt1">
                        <a:lumMod val="7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xVal>
            <c:numRef>
              <c:f>'PS2'!$A$2:$A$8</c:f>
              <c:numCache>
                <c:formatCode>0</c:formatCode>
                <c:ptCount val="7"/>
                <c:pt idx="0">
                  <c:v>2017</c:v>
                </c:pt>
                <c:pt idx="1">
                  <c:v>2018</c:v>
                </c:pt>
                <c:pt idx="2">
                  <c:v>2019</c:v>
                </c:pt>
                <c:pt idx="3">
                  <c:v>2020</c:v>
                </c:pt>
                <c:pt idx="4">
                  <c:v>2021</c:v>
                </c:pt>
                <c:pt idx="5">
                  <c:v>2022</c:v>
                </c:pt>
                <c:pt idx="6">
                  <c:v>2023</c:v>
                </c:pt>
              </c:numCache>
            </c:numRef>
          </c:xVal>
          <c:yVal>
            <c:numRef>
              <c:f>'PS2'!$B$2:$B$8</c:f>
              <c:numCache>
                <c:formatCode>0%</c:formatCode>
                <c:ptCount val="7"/>
                <c:pt idx="0">
                  <c:v>5.2999999999999999E-2</c:v>
                </c:pt>
                <c:pt idx="1">
                  <c:v>2.3E-2</c:v>
                </c:pt>
                <c:pt idx="2">
                  <c:v>7.6999999999999999E-2</c:v>
                </c:pt>
                <c:pt idx="3">
                  <c:v>5.8000000000000003E-2</c:v>
                </c:pt>
                <c:pt idx="4">
                  <c:v>5.7000000000000002E-2</c:v>
                </c:pt>
                <c:pt idx="5">
                  <c:v>0.06</c:v>
                </c:pt>
                <c:pt idx="6">
                  <c:v>1.4999999999999999E-2</c:v>
                </c:pt>
              </c:numCache>
            </c:numRef>
          </c:yVal>
          <c:smooth val="0"/>
          <c:extLst>
            <c:ext xmlns:c16="http://schemas.microsoft.com/office/drawing/2014/chart" uri="{C3380CC4-5D6E-409C-BE32-E72D297353CC}">
              <c16:uniqueId val="{00000000-D9C0-4659-BA7B-923FE65FAB47}"/>
            </c:ext>
          </c:extLst>
        </c:ser>
        <c:dLbls>
          <c:dLblPos val="t"/>
          <c:showLegendKey val="0"/>
          <c:showVal val="1"/>
          <c:showCatName val="0"/>
          <c:showSerName val="0"/>
          <c:showPercent val="0"/>
          <c:showBubbleSize val="0"/>
        </c:dLbls>
        <c:axId val="1748747327"/>
        <c:axId val="1748733887"/>
      </c:scatterChart>
      <c:valAx>
        <c:axId val="1748747327"/>
        <c:scaling>
          <c:orientation val="minMax"/>
        </c:scaling>
        <c:delete val="0"/>
        <c:axPos val="b"/>
        <c:majorGridlines>
          <c:spPr>
            <a:ln w="9525" cap="flat" cmpd="sng" algn="ctr">
              <a:solidFill>
                <a:schemeClr val="dk1">
                  <a:lumMod val="65000"/>
                  <a:lumOff val="35000"/>
                  <a:alpha val="75000"/>
                </a:schemeClr>
              </a:solidFill>
              <a:round/>
            </a:ln>
            <a:effectLst/>
          </c:spPr>
        </c:majorGridlines>
        <c:numFmt formatCode="0"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748733887"/>
        <c:crosses val="autoZero"/>
        <c:crossBetween val="midCat"/>
      </c:valAx>
      <c:valAx>
        <c:axId val="1748733887"/>
        <c:scaling>
          <c:orientation val="minMax"/>
        </c:scaling>
        <c:delete val="0"/>
        <c:axPos val="l"/>
        <c:majorGridlines>
          <c:spPr>
            <a:ln w="9525" cap="flat" cmpd="sng" algn="ctr">
              <a:solidFill>
                <a:schemeClr val="dk1">
                  <a:lumMod val="65000"/>
                  <a:lumOff val="35000"/>
                  <a:alpha val="75000"/>
                </a:schemeClr>
              </a:solidFill>
              <a:round/>
            </a:ln>
            <a:effectLst/>
          </c:spPr>
        </c:majorGridlines>
        <c:numFmt formatCode="0%"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748747327"/>
        <c:crosses val="autoZero"/>
        <c:crossBetween val="midCat"/>
      </c:valAx>
      <c:spPr>
        <a:noFill/>
        <a:ln>
          <a:noFill/>
        </a:ln>
        <a:effectLst/>
      </c:spPr>
    </c:plotArea>
    <c:plotVisOnly val="1"/>
    <c:dispBlanksAs val="gap"/>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400" b="1" i="0" u="none" strike="noStrike" kern="1200" spc="100" baseline="0">
                <a:solidFill>
                  <a:srgbClr val="FFFF00"/>
                </a:solidFill>
                <a:effectLst>
                  <a:outerShdw blurRad="50800" dist="38100" dir="5400000" algn="t" rotWithShape="0">
                    <a:prstClr val="black">
                      <a:alpha val="40000"/>
                    </a:prstClr>
                  </a:outerShdw>
                </a:effectLst>
                <a:latin typeface="+mn-lt"/>
                <a:ea typeface="+mn-ea"/>
                <a:cs typeface="+mn-cs"/>
              </a:defRPr>
            </a:pPr>
            <a:r>
              <a:rPr lang="en-US" sz="1400" dirty="0">
                <a:solidFill>
                  <a:srgbClr val="FFFF00"/>
                </a:solidFill>
                <a:latin typeface="Elephant" panose="02020904090505020303" pitchFamily="18" charset="0"/>
              </a:rPr>
              <a:t>MOM Inflation</a:t>
            </a:r>
            <a:r>
              <a:rPr lang="en-US" sz="1400" baseline="0" dirty="0">
                <a:solidFill>
                  <a:srgbClr val="FFFF00"/>
                </a:solidFill>
                <a:latin typeface="Elephant" panose="02020904090505020303" pitchFamily="18" charset="0"/>
              </a:rPr>
              <a:t> for Urban Sector from June 2022 - May 2023</a:t>
            </a:r>
            <a:endParaRPr lang="en-US" sz="1400" dirty="0">
              <a:solidFill>
                <a:srgbClr val="FFFF00"/>
              </a:solidFill>
              <a:latin typeface="Elephant" panose="02020904090505020303" pitchFamily="18" charset="0"/>
            </a:endParaRPr>
          </a:p>
        </c:rich>
      </c:tx>
      <c:overlay val="0"/>
      <c:spPr>
        <a:noFill/>
        <a:ln>
          <a:noFill/>
        </a:ln>
        <a:effectLst/>
      </c:spPr>
      <c:txPr>
        <a:bodyPr rot="0" spcFirstLastPara="1" vertOverflow="ellipsis" vert="horz" wrap="square" anchor="ctr" anchorCtr="1"/>
        <a:lstStyle/>
        <a:p>
          <a:pPr>
            <a:defRPr sz="1400" b="1" i="0" u="none" strike="noStrike" kern="1200" spc="100" baseline="0">
              <a:solidFill>
                <a:srgbClr val="FFFF00"/>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'PS3'!$E$5</c:f>
              <c:strCache>
                <c:ptCount val="1"/>
                <c:pt idx="0">
                  <c:v>MOM Inflation</c:v>
                </c:pt>
              </c:strCache>
            </c:strRef>
          </c:tx>
          <c:spPr>
            <a:solidFill>
              <a:schemeClr val="accent4">
                <a:lumMod val="60000"/>
                <a:lumOff val="40000"/>
              </a:schemeClr>
            </a:solidFill>
            <a:ln>
              <a:noFill/>
            </a:ln>
            <a:effectLst>
              <a:outerShdw blurRad="57150" dist="19050" dir="5400000" algn="ctr" rotWithShape="0">
                <a:srgbClr val="000000">
                  <a:alpha val="63000"/>
                </a:srgbClr>
              </a:outerShdw>
            </a:effectLst>
          </c:spPr>
          <c:invertIfNegative val="0"/>
          <c:dPt>
            <c:idx val="0"/>
            <c:invertIfNegative val="0"/>
            <c:bubble3D val="0"/>
            <c:spPr>
              <a:solidFill>
                <a:srgbClr val="FF000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35EF-4876-A852-BB1A7A9EE920}"/>
              </c:ext>
            </c:extLst>
          </c:dPt>
          <c:dPt>
            <c:idx val="4"/>
            <c:invertIfNegative val="0"/>
            <c:bubble3D val="0"/>
            <c:spPr>
              <a:solidFill>
                <a:schemeClr val="accent4">
                  <a:lumMod val="60000"/>
                  <a:lumOff val="4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35EF-4876-A852-BB1A7A9EE920}"/>
              </c:ext>
            </c:extLst>
          </c:dPt>
          <c:dPt>
            <c:idx val="5"/>
            <c:invertIfNegative val="0"/>
            <c:bubble3D val="0"/>
            <c:spPr>
              <a:solidFill>
                <a:schemeClr val="accent4">
                  <a:lumMod val="60000"/>
                  <a:lumOff val="4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35EF-4876-A852-BB1A7A9EE920}"/>
              </c:ext>
            </c:extLst>
          </c:dPt>
          <c:dPt>
            <c:idx val="6"/>
            <c:invertIfNegative val="0"/>
            <c:bubble3D val="0"/>
            <c:spPr>
              <a:solidFill>
                <a:srgbClr val="0000C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35EF-4876-A852-BB1A7A9EE920}"/>
              </c:ext>
            </c:extLst>
          </c:dPt>
          <c:dPt>
            <c:idx val="10"/>
            <c:invertIfNegative val="0"/>
            <c:bubble3D val="0"/>
            <c:spPr>
              <a:solidFill>
                <a:schemeClr val="accent4">
                  <a:lumMod val="60000"/>
                  <a:lumOff val="4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9-35EF-4876-A852-BB1A7A9EE920}"/>
              </c:ext>
            </c:extLst>
          </c:dPt>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'PS3'!$B$7:$C$18</c:f>
              <c:multiLvlStrCache>
                <c:ptCount val="12"/>
                <c:lvl>
                  <c:pt idx="0">
                    <c:v>June</c:v>
                  </c:pt>
                  <c:pt idx="1">
                    <c:v>July</c:v>
                  </c:pt>
                  <c:pt idx="2">
                    <c:v>August</c:v>
                  </c:pt>
                  <c:pt idx="3">
                    <c:v>September</c:v>
                  </c:pt>
                  <c:pt idx="4">
                    <c:v>October</c:v>
                  </c:pt>
                  <c:pt idx="5">
                    <c:v>November</c:v>
                  </c:pt>
                  <c:pt idx="6">
                    <c:v>December</c:v>
                  </c:pt>
                  <c:pt idx="7">
                    <c:v>January</c:v>
                  </c:pt>
                  <c:pt idx="8">
                    <c:v>February</c:v>
                  </c:pt>
                  <c:pt idx="9">
                    <c:v>March</c:v>
                  </c:pt>
                  <c:pt idx="10">
                    <c:v>April</c:v>
                  </c:pt>
                  <c:pt idx="11">
                    <c:v>May</c:v>
                  </c:pt>
                </c:lvl>
                <c:lvl>
                  <c:pt idx="0">
                    <c:v>2022</c:v>
                  </c:pt>
                  <c:pt idx="1">
                    <c:v>2022</c:v>
                  </c:pt>
                  <c:pt idx="2">
                    <c:v>2022</c:v>
                  </c:pt>
                  <c:pt idx="3">
                    <c:v>2022</c:v>
                  </c:pt>
                  <c:pt idx="4">
                    <c:v>2022</c:v>
                  </c:pt>
                  <c:pt idx="5">
                    <c:v>2022</c:v>
                  </c:pt>
                  <c:pt idx="6">
                    <c:v>2022</c:v>
                  </c:pt>
                  <c:pt idx="7">
                    <c:v>2023</c:v>
                  </c:pt>
                  <c:pt idx="8">
                    <c:v>2023</c:v>
                  </c:pt>
                  <c:pt idx="9">
                    <c:v>2023</c:v>
                  </c:pt>
                  <c:pt idx="10">
                    <c:v>2023</c:v>
                  </c:pt>
                  <c:pt idx="11">
                    <c:v>2023</c:v>
                  </c:pt>
                </c:lvl>
              </c:multiLvlStrCache>
            </c:multiLvlStrRef>
          </c:cat>
          <c:val>
            <c:numRef>
              <c:f>'PS3'!$E$7:$E$18</c:f>
              <c:numCache>
                <c:formatCode>0.0</c:formatCode>
                <c:ptCount val="12"/>
                <c:pt idx="0">
                  <c:v>1.1183803377243156</c:v>
                </c:pt>
                <c:pt idx="1">
                  <c:v>0.17923497267760408</c:v>
                </c:pt>
                <c:pt idx="2">
                  <c:v>9.1639029499028551E-2</c:v>
                </c:pt>
                <c:pt idx="3">
                  <c:v>0.55369054366309034</c:v>
                </c:pt>
                <c:pt idx="4">
                  <c:v>0.68938605619146376</c:v>
                </c:pt>
                <c:pt idx="5">
                  <c:v>-0.34017999397149157</c:v>
                </c:pt>
                <c:pt idx="6">
                  <c:v>-0.80366401659179632</c:v>
                </c:pt>
                <c:pt idx="7">
                  <c:v>0.62723233731164252</c:v>
                </c:pt>
                <c:pt idx="8">
                  <c:v>-0.30300406891180343</c:v>
                </c:pt>
                <c:pt idx="9">
                  <c:v>8.6835706842833867E-3</c:v>
                </c:pt>
                <c:pt idx="10">
                  <c:v>0.62082139446035967</c:v>
                </c:pt>
                <c:pt idx="11">
                  <c:v>0.75074427233895202</c:v>
                </c:pt>
              </c:numCache>
            </c:numRef>
          </c:val>
          <c:extLst>
            <c:ext xmlns:c16="http://schemas.microsoft.com/office/drawing/2014/chart" uri="{C3380CC4-5D6E-409C-BE32-E72D297353CC}">
              <c16:uniqueId val="{0000000A-35EF-4876-A852-BB1A7A9EE920}"/>
            </c:ext>
          </c:extLst>
        </c:ser>
        <c:dLbls>
          <c:dLblPos val="outEnd"/>
          <c:showLegendKey val="0"/>
          <c:showVal val="1"/>
          <c:showCatName val="0"/>
          <c:showSerName val="0"/>
          <c:showPercent val="0"/>
          <c:showBubbleSize val="0"/>
        </c:dLbls>
        <c:gapWidth val="100"/>
        <c:overlap val="-24"/>
        <c:axId val="1204530719"/>
        <c:axId val="1204531679"/>
      </c:barChart>
      <c:catAx>
        <c:axId val="1204530719"/>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204531679"/>
        <c:crosses val="autoZero"/>
        <c:auto val="1"/>
        <c:lblAlgn val="ctr"/>
        <c:lblOffset val="100"/>
        <c:noMultiLvlLbl val="0"/>
      </c:catAx>
      <c:valAx>
        <c:axId val="1204531679"/>
        <c:scaling>
          <c:orientation val="minMax"/>
        </c:scaling>
        <c:delete val="0"/>
        <c:axPos val="l"/>
        <c:majorGridlines>
          <c:spPr>
            <a:ln w="9525" cap="flat" cmpd="sng" algn="ctr">
              <a:solidFill>
                <a:schemeClr val="lt1">
                  <a:lumMod val="95000"/>
                  <a:alpha val="10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204530719"/>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900" b="0" i="0" u="none" strike="noStrike" kern="1200" baseline="0">
                <a:solidFill>
                  <a:schemeClr val="lt1">
                    <a:lumMod val="85000"/>
                  </a:schemeClr>
                </a:solidFill>
                <a:latin typeface="+mn-lt"/>
                <a:ea typeface="+mn-ea"/>
                <a:cs typeface="+mn-cs"/>
              </a:defRPr>
            </a:pPr>
            <a:endParaRPr lang="en-US"/>
          </a:p>
        </c:txPr>
      </c:dTable>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dirty="0">
                <a:solidFill>
                  <a:srgbClr val="FF0000"/>
                </a:solidFill>
              </a:rPr>
              <a:t>Contribution of sub category under Food</a:t>
            </a:r>
            <a:r>
              <a:rPr lang="en-US" baseline="0" dirty="0">
                <a:solidFill>
                  <a:srgbClr val="FF0000"/>
                </a:solidFill>
              </a:rPr>
              <a:t> Basket for urban sector</a:t>
            </a:r>
            <a:endParaRPr lang="en-US" dirty="0">
              <a:solidFill>
                <a:srgbClr val="FF0000"/>
              </a:solidFill>
            </a:endParaRPr>
          </a:p>
        </c:rich>
      </c:tx>
      <c:overlay val="0"/>
      <c:spPr>
        <a:solidFill>
          <a:srgbClr val="FFFF00"/>
        </a:solid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manualLayout>
          <c:layoutTarget val="inner"/>
          <c:xMode val="edge"/>
          <c:yMode val="edge"/>
          <c:x val="5.9927215113039792E-2"/>
          <c:y val="0.15705671019475648"/>
          <c:w val="0.54404522939163003"/>
          <c:h val="0.64815303076447084"/>
        </c:manualLayout>
      </c:layout>
      <c:doughnut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F29F-4119-8E35-646517884AF6}"/>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F29F-4119-8E35-646517884AF6}"/>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F29F-4119-8E35-646517884AF6}"/>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F29F-4119-8E35-646517884AF6}"/>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F29F-4119-8E35-646517884AF6}"/>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F29F-4119-8E35-646517884AF6}"/>
              </c:ext>
            </c:extLst>
          </c:dPt>
          <c:dPt>
            <c:idx val="6"/>
            <c:bubble3D val="0"/>
            <c:spPr>
              <a:solidFill>
                <a:schemeClr val="accent1">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D-F29F-4119-8E35-646517884AF6}"/>
              </c:ext>
            </c:extLst>
          </c:dPt>
          <c:dPt>
            <c:idx val="7"/>
            <c:bubble3D val="0"/>
            <c:spPr>
              <a:solidFill>
                <a:schemeClr val="accent2">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F-F29F-4119-8E35-646517884AF6}"/>
              </c:ext>
            </c:extLst>
          </c:dPt>
          <c:dPt>
            <c:idx val="8"/>
            <c:bubble3D val="0"/>
            <c:spPr>
              <a:solidFill>
                <a:schemeClr val="accent3">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1-F29F-4119-8E35-646517884AF6}"/>
              </c:ext>
            </c:extLst>
          </c:dPt>
          <c:dPt>
            <c:idx val="9"/>
            <c:bubble3D val="0"/>
            <c:spPr>
              <a:solidFill>
                <a:schemeClr val="accent4">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3-F29F-4119-8E35-646517884AF6}"/>
              </c:ext>
            </c:extLst>
          </c:dPt>
          <c:dPt>
            <c:idx val="10"/>
            <c:bubble3D val="0"/>
            <c:spPr>
              <a:solidFill>
                <a:schemeClr val="accent5">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5-F29F-4119-8E35-646517884AF6}"/>
              </c:ext>
            </c:extLst>
          </c:dPt>
          <c:dPt>
            <c:idx val="11"/>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7-F29F-4119-8E35-646517884AF6}"/>
              </c:ext>
            </c:extLst>
          </c:dPt>
          <c:dPt>
            <c:idx val="12"/>
            <c:bubble3D val="0"/>
            <c:spPr>
              <a:solidFill>
                <a:schemeClr val="accent1">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9-F29F-4119-8E35-646517884AF6}"/>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'PS3'!$G$29:$S$29</c:f>
              <c:strCache>
                <c:ptCount val="13"/>
                <c:pt idx="0">
                  <c:v>Cereals and products</c:v>
                </c:pt>
                <c:pt idx="1">
                  <c:v>Meat and fish</c:v>
                </c:pt>
                <c:pt idx="2">
                  <c:v>Egg</c:v>
                </c:pt>
                <c:pt idx="3">
                  <c:v>Milk and products</c:v>
                </c:pt>
                <c:pt idx="4">
                  <c:v>Oils and fats</c:v>
                </c:pt>
                <c:pt idx="5">
                  <c:v>Fruits</c:v>
                </c:pt>
                <c:pt idx="6">
                  <c:v>Vegetables</c:v>
                </c:pt>
                <c:pt idx="7">
                  <c:v>Pulses and products</c:v>
                </c:pt>
                <c:pt idx="8">
                  <c:v>Sugar and Confectionery</c:v>
                </c:pt>
                <c:pt idx="9">
                  <c:v>Spices</c:v>
                </c:pt>
                <c:pt idx="10">
                  <c:v>Non-alcoholic beverages</c:v>
                </c:pt>
                <c:pt idx="11">
                  <c:v>Prepared meals, snacks, sweets etc.</c:v>
                </c:pt>
                <c:pt idx="12">
                  <c:v>Food and beverages</c:v>
                </c:pt>
              </c:strCache>
            </c:strRef>
          </c:cat>
          <c:val>
            <c:numRef>
              <c:f>'PS3'!$G$30:$S$30</c:f>
              <c:numCache>
                <c:formatCode>0.0</c:formatCode>
                <c:ptCount val="13"/>
                <c:pt idx="0">
                  <c:v>0.10920634920634914</c:v>
                </c:pt>
                <c:pt idx="1">
                  <c:v>1.7905102954341987E-2</c:v>
                </c:pt>
                <c:pt idx="2">
                  <c:v>2.2569444444444312E-2</c:v>
                </c:pt>
                <c:pt idx="3">
                  <c:v>7.8125E-2</c:v>
                </c:pt>
                <c:pt idx="4">
                  <c:v>0.12831389183457045</c:v>
                </c:pt>
                <c:pt idx="5">
                  <c:v>9.7645031591040623E-3</c:v>
                </c:pt>
                <c:pt idx="6">
                  <c:v>0.12529550827423167</c:v>
                </c:pt>
                <c:pt idx="7">
                  <c:v>8.1295843520782465E-2</c:v>
                </c:pt>
                <c:pt idx="8">
                  <c:v>2.3064250411861591E-2</c:v>
                </c:pt>
                <c:pt idx="9">
                  <c:v>0.15476839237057224</c:v>
                </c:pt>
                <c:pt idx="10">
                  <c:v>4.2740414833438163E-2</c:v>
                </c:pt>
                <c:pt idx="11">
                  <c:v>6.119162640901759E-2</c:v>
                </c:pt>
                <c:pt idx="12" formatCode="General">
                  <c:v>2.1193530395984286E-2</c:v>
                </c:pt>
              </c:numCache>
            </c:numRef>
          </c:val>
          <c:extLst>
            <c:ext xmlns:c16="http://schemas.microsoft.com/office/drawing/2014/chart" uri="{C3380CC4-5D6E-409C-BE32-E72D297353CC}">
              <c16:uniqueId val="{0000001A-F29F-4119-8E35-646517884AF6}"/>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r"/>
      <c:layout>
        <c:manualLayout>
          <c:xMode val="edge"/>
          <c:yMode val="edge"/>
          <c:x val="0.70296360259894086"/>
          <c:y val="0.13854226659956756"/>
          <c:w val="0.28735005071349096"/>
          <c:h val="0.80172338463546822"/>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32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MOM Inflation for Rural Sector from June 2022 - May 2023</a:t>
            </a:r>
          </a:p>
        </c:rich>
      </c:tx>
      <c:overlay val="0"/>
      <c:spPr>
        <a:noFill/>
        <a:ln>
          <a:noFill/>
        </a:ln>
        <a:effectLst/>
      </c:spPr>
      <c:txPr>
        <a:bodyPr rot="0" spcFirstLastPara="1" vertOverflow="ellipsis" vert="horz" wrap="square" anchor="ctr" anchorCtr="1"/>
        <a:lstStyle/>
        <a:p>
          <a:pPr>
            <a:defRPr sz="132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'PS3'!$X$5</c:f>
              <c:strCache>
                <c:ptCount val="1"/>
                <c:pt idx="0">
                  <c:v>MOM Inflation</c:v>
                </c:pt>
              </c:strCache>
            </c:strRef>
          </c:tx>
          <c:spPr>
            <a:solidFill>
              <a:srgbClr val="FFC000"/>
            </a:solidFill>
            <a:ln>
              <a:noFill/>
            </a:ln>
            <a:effectLst>
              <a:outerShdw blurRad="57150" dist="19050" dir="5400000" algn="ctr" rotWithShape="0">
                <a:srgbClr val="000000">
                  <a:alpha val="63000"/>
                </a:srgbClr>
              </a:outerShdw>
            </a:effectLst>
          </c:spPr>
          <c:invertIfNegative val="0"/>
          <c:dPt>
            <c:idx val="0"/>
            <c:invertIfNegative val="0"/>
            <c:bubble3D val="0"/>
            <c:spPr>
              <a:solidFill>
                <a:srgbClr val="FF000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F8AB-47D2-B75A-D151F3262B35}"/>
              </c:ext>
            </c:extLst>
          </c:dPt>
          <c:dPt>
            <c:idx val="3"/>
            <c:invertIfNegative val="0"/>
            <c:bubble3D val="0"/>
            <c:spPr>
              <a:solidFill>
                <a:srgbClr val="FFC00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F8AB-47D2-B75A-D151F3262B35}"/>
              </c:ext>
            </c:extLst>
          </c:dPt>
          <c:dPt>
            <c:idx val="7"/>
            <c:invertIfNegative val="0"/>
            <c:bubble3D val="0"/>
            <c:spPr>
              <a:solidFill>
                <a:srgbClr val="FFC00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F8AB-47D2-B75A-D151F3262B35}"/>
              </c:ext>
            </c:extLst>
          </c:dPt>
          <c:dPt>
            <c:idx val="8"/>
            <c:invertIfNegative val="0"/>
            <c:bubble3D val="0"/>
            <c:spPr>
              <a:solidFill>
                <a:srgbClr val="0033C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F8AB-47D2-B75A-D151F3262B35}"/>
              </c:ext>
            </c:extLst>
          </c:dPt>
          <c:dPt>
            <c:idx val="10"/>
            <c:invertIfNegative val="0"/>
            <c:bubble3D val="0"/>
            <c:spPr>
              <a:solidFill>
                <a:srgbClr val="FFC00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9-F8AB-47D2-B75A-D151F3262B35}"/>
              </c:ext>
            </c:extLst>
          </c:dPt>
          <c:dLbls>
            <c:spPr>
              <a:noFill/>
              <a:ln>
                <a:noFill/>
              </a:ln>
              <a:effectLst/>
            </c:spPr>
            <c:txPr>
              <a:bodyPr rot="0" spcFirstLastPara="1" vertOverflow="ellipsis" vert="horz" wrap="square" anchor="ctr" anchorCtr="1"/>
              <a:lstStyle/>
              <a:p>
                <a:pPr>
                  <a:defRPr sz="11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'PS3'!$U$7:$V$18</c:f>
              <c:multiLvlStrCache>
                <c:ptCount val="12"/>
                <c:lvl>
                  <c:pt idx="0">
                    <c:v>June</c:v>
                  </c:pt>
                  <c:pt idx="1">
                    <c:v>July</c:v>
                  </c:pt>
                  <c:pt idx="2">
                    <c:v>August</c:v>
                  </c:pt>
                  <c:pt idx="3">
                    <c:v>September</c:v>
                  </c:pt>
                  <c:pt idx="4">
                    <c:v>October</c:v>
                  </c:pt>
                  <c:pt idx="5">
                    <c:v>November</c:v>
                  </c:pt>
                  <c:pt idx="6">
                    <c:v>December</c:v>
                  </c:pt>
                  <c:pt idx="7">
                    <c:v>January</c:v>
                  </c:pt>
                  <c:pt idx="8">
                    <c:v>February</c:v>
                  </c:pt>
                  <c:pt idx="9">
                    <c:v>March</c:v>
                  </c:pt>
                  <c:pt idx="10">
                    <c:v>April</c:v>
                  </c:pt>
                  <c:pt idx="11">
                    <c:v>May</c:v>
                  </c:pt>
                </c:lvl>
                <c:lvl>
                  <c:pt idx="0">
                    <c:v>2022</c:v>
                  </c:pt>
                  <c:pt idx="1">
                    <c:v>2022</c:v>
                  </c:pt>
                  <c:pt idx="2">
                    <c:v>2022</c:v>
                  </c:pt>
                  <c:pt idx="3">
                    <c:v>2022</c:v>
                  </c:pt>
                  <c:pt idx="4">
                    <c:v>2022</c:v>
                  </c:pt>
                  <c:pt idx="5">
                    <c:v>2022</c:v>
                  </c:pt>
                  <c:pt idx="6">
                    <c:v>2022</c:v>
                  </c:pt>
                  <c:pt idx="7">
                    <c:v>2023</c:v>
                  </c:pt>
                  <c:pt idx="8">
                    <c:v>2023</c:v>
                  </c:pt>
                  <c:pt idx="9">
                    <c:v>2023</c:v>
                  </c:pt>
                  <c:pt idx="10">
                    <c:v>2023</c:v>
                  </c:pt>
                  <c:pt idx="11">
                    <c:v>2023</c:v>
                  </c:pt>
                </c:lvl>
              </c:multiLvlStrCache>
            </c:multiLvlStrRef>
          </c:cat>
          <c:val>
            <c:numRef>
              <c:f>'PS3'!$X$7:$X$18</c:f>
              <c:numCache>
                <c:formatCode>0.0</c:formatCode>
                <c:ptCount val="12"/>
                <c:pt idx="0">
                  <c:v>0.96551104724268388</c:v>
                </c:pt>
                <c:pt idx="1">
                  <c:v>0.1868078103455876</c:v>
                </c:pt>
                <c:pt idx="2">
                  <c:v>0.1465038845726811</c:v>
                </c:pt>
                <c:pt idx="3">
                  <c:v>0.53196205337354874</c:v>
                </c:pt>
                <c:pt idx="4">
                  <c:v>0.73639650762852682</c:v>
                </c:pt>
                <c:pt idx="5">
                  <c:v>0.14007441453272002</c:v>
                </c:pt>
                <c:pt idx="6">
                  <c:v>-0.46334746688814937</c:v>
                </c:pt>
                <c:pt idx="7">
                  <c:v>0.26788459004877468</c:v>
                </c:pt>
                <c:pt idx="8">
                  <c:v>-0.76646811492644751</c:v>
                </c:pt>
                <c:pt idx="9">
                  <c:v>4.4136469965305302E-3</c:v>
                </c:pt>
                <c:pt idx="10">
                  <c:v>0.37072998499424897</c:v>
                </c:pt>
                <c:pt idx="11">
                  <c:v>0.72552985665292391</c:v>
                </c:pt>
              </c:numCache>
            </c:numRef>
          </c:val>
          <c:extLst>
            <c:ext xmlns:c16="http://schemas.microsoft.com/office/drawing/2014/chart" uri="{C3380CC4-5D6E-409C-BE32-E72D297353CC}">
              <c16:uniqueId val="{0000000A-F8AB-47D2-B75A-D151F3262B35}"/>
            </c:ext>
          </c:extLst>
        </c:ser>
        <c:dLbls>
          <c:dLblPos val="outEnd"/>
          <c:showLegendKey val="0"/>
          <c:showVal val="1"/>
          <c:showCatName val="0"/>
          <c:showSerName val="0"/>
          <c:showPercent val="0"/>
          <c:showBubbleSize val="0"/>
        </c:dLbls>
        <c:gapWidth val="100"/>
        <c:overlap val="-24"/>
        <c:axId val="1520393728"/>
        <c:axId val="1520387008"/>
      </c:barChart>
      <c:catAx>
        <c:axId val="1520393728"/>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00" b="0" i="0" u="none" strike="noStrike" kern="1200" baseline="0">
                <a:solidFill>
                  <a:schemeClr val="lt1">
                    <a:lumMod val="85000"/>
                  </a:schemeClr>
                </a:solidFill>
                <a:latin typeface="+mn-lt"/>
                <a:ea typeface="+mn-ea"/>
                <a:cs typeface="+mn-cs"/>
              </a:defRPr>
            </a:pPr>
            <a:endParaRPr lang="en-US"/>
          </a:p>
        </c:txPr>
        <c:crossAx val="1520387008"/>
        <c:crosses val="autoZero"/>
        <c:auto val="1"/>
        <c:lblAlgn val="ctr"/>
        <c:lblOffset val="100"/>
        <c:noMultiLvlLbl val="0"/>
      </c:catAx>
      <c:valAx>
        <c:axId val="1520387008"/>
        <c:scaling>
          <c:orientation val="minMax"/>
        </c:scaling>
        <c:delete val="0"/>
        <c:axPos val="l"/>
        <c:majorGridlines>
          <c:spPr>
            <a:ln w="9525" cap="flat" cmpd="sng" algn="ctr">
              <a:solidFill>
                <a:schemeClr val="lt1">
                  <a:lumMod val="95000"/>
                  <a:alpha val="10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lt1">
                    <a:lumMod val="85000"/>
                  </a:schemeClr>
                </a:solidFill>
                <a:latin typeface="+mn-lt"/>
                <a:ea typeface="+mn-ea"/>
                <a:cs typeface="+mn-cs"/>
              </a:defRPr>
            </a:pPr>
            <a:endParaRPr lang="en-US"/>
          </a:p>
        </c:txPr>
        <c:crossAx val="1520393728"/>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1100" b="0" i="0" u="none" strike="noStrike" kern="1200" baseline="0">
                <a:solidFill>
                  <a:schemeClr val="lt1">
                    <a:lumMod val="85000"/>
                  </a:schemeClr>
                </a:solidFill>
                <a:latin typeface="+mn-lt"/>
                <a:ea typeface="+mn-ea"/>
                <a:cs typeface="+mn-cs"/>
              </a:defRPr>
            </a:pPr>
            <a:endParaRPr lang="en-US"/>
          </a:p>
        </c:txPr>
      </c:dTable>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sz="1100"/>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sz="1800" b="1" i="0" u="none" strike="noStrike" kern="1200" baseline="0" dirty="0">
                <a:solidFill>
                  <a:srgbClr val="FF0000"/>
                </a:solidFill>
              </a:rPr>
              <a:t>Contribution of sub category under Food Basket for Rural sector</a:t>
            </a:r>
            <a:endParaRPr lang="en-US" dirty="0"/>
          </a:p>
        </c:rich>
      </c:tx>
      <c:overlay val="0"/>
      <c:spPr>
        <a:solidFill>
          <a:srgbClr val="FFFF00"/>
        </a:solid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manualLayout>
          <c:layoutTarget val="inner"/>
          <c:xMode val="edge"/>
          <c:yMode val="edge"/>
          <c:x val="3.613995266757189E-2"/>
          <c:y val="0.20063852597901116"/>
          <c:w val="0.51029501578373093"/>
          <c:h val="0.68978595175205715"/>
        </c:manualLayout>
      </c:layout>
      <c:doughnut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0EC1-4511-AC0B-A53D58201483}"/>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0EC1-4511-AC0B-A53D58201483}"/>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0EC1-4511-AC0B-A53D58201483}"/>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0EC1-4511-AC0B-A53D58201483}"/>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0EC1-4511-AC0B-A53D58201483}"/>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0EC1-4511-AC0B-A53D58201483}"/>
              </c:ext>
            </c:extLst>
          </c:dPt>
          <c:dPt>
            <c:idx val="6"/>
            <c:bubble3D val="0"/>
            <c:spPr>
              <a:solidFill>
                <a:schemeClr val="accent1">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D-0EC1-4511-AC0B-A53D58201483}"/>
              </c:ext>
            </c:extLst>
          </c:dPt>
          <c:dPt>
            <c:idx val="7"/>
            <c:bubble3D val="0"/>
            <c:spPr>
              <a:solidFill>
                <a:schemeClr val="accent2">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F-0EC1-4511-AC0B-A53D58201483}"/>
              </c:ext>
            </c:extLst>
          </c:dPt>
          <c:dPt>
            <c:idx val="8"/>
            <c:bubble3D val="0"/>
            <c:spPr>
              <a:solidFill>
                <a:schemeClr val="accent3">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1-0EC1-4511-AC0B-A53D58201483}"/>
              </c:ext>
            </c:extLst>
          </c:dPt>
          <c:dPt>
            <c:idx val="9"/>
            <c:bubble3D val="0"/>
            <c:spPr>
              <a:solidFill>
                <a:schemeClr val="accent4">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3-0EC1-4511-AC0B-A53D58201483}"/>
              </c:ext>
            </c:extLst>
          </c:dPt>
          <c:dPt>
            <c:idx val="10"/>
            <c:bubble3D val="0"/>
            <c:spPr>
              <a:solidFill>
                <a:schemeClr val="accent5">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5-0EC1-4511-AC0B-A53D58201483}"/>
              </c:ext>
            </c:extLst>
          </c:dPt>
          <c:dPt>
            <c:idx val="11"/>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7-0EC1-4511-AC0B-A53D58201483}"/>
              </c:ext>
            </c:extLst>
          </c:dPt>
          <c:dPt>
            <c:idx val="12"/>
            <c:bubble3D val="0"/>
            <c:spPr>
              <a:solidFill>
                <a:schemeClr val="accent1">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9-0EC1-4511-AC0B-A53D58201483}"/>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'PS3'!$Z$29:$AL$29</c:f>
              <c:strCache>
                <c:ptCount val="13"/>
                <c:pt idx="0">
                  <c:v>Cereals and products</c:v>
                </c:pt>
                <c:pt idx="1">
                  <c:v>Meat and fish</c:v>
                </c:pt>
                <c:pt idx="2">
                  <c:v>Egg</c:v>
                </c:pt>
                <c:pt idx="3">
                  <c:v>Milk and products</c:v>
                </c:pt>
                <c:pt idx="4">
                  <c:v>Oils and fats</c:v>
                </c:pt>
                <c:pt idx="5">
                  <c:v>Fruits</c:v>
                </c:pt>
                <c:pt idx="6">
                  <c:v>Vegetables</c:v>
                </c:pt>
                <c:pt idx="7">
                  <c:v>Pulses and products</c:v>
                </c:pt>
                <c:pt idx="8">
                  <c:v>Sugar and Confectionery</c:v>
                </c:pt>
                <c:pt idx="9">
                  <c:v>Spices</c:v>
                </c:pt>
                <c:pt idx="10">
                  <c:v>Non-alcoholic beverages</c:v>
                </c:pt>
                <c:pt idx="11">
                  <c:v>Prepared meals, snacks, sweets etc.</c:v>
                </c:pt>
                <c:pt idx="12">
                  <c:v>Food and beverages</c:v>
                </c:pt>
              </c:strCache>
            </c:strRef>
          </c:cat>
          <c:val>
            <c:numRef>
              <c:f>'PS3'!$Z$30:$AL$30</c:f>
              <c:numCache>
                <c:formatCode>0.0</c:formatCode>
                <c:ptCount val="13"/>
                <c:pt idx="0">
                  <c:v>0.12613784135240558</c:v>
                </c:pt>
                <c:pt idx="1">
                  <c:v>2.6243093922651884E-2</c:v>
                </c:pt>
                <c:pt idx="2">
                  <c:v>8.2547169811321101E-3</c:v>
                </c:pt>
                <c:pt idx="3">
                  <c:v>8.5852478839177682E-2</c:v>
                </c:pt>
                <c:pt idx="4">
                  <c:v>0.16722729456991822</c:v>
                </c:pt>
                <c:pt idx="5">
                  <c:v>1.9300361881785213E-2</c:v>
                </c:pt>
                <c:pt idx="6">
                  <c:v>0.11117752540346695</c:v>
                </c:pt>
                <c:pt idx="7">
                  <c:v>6.2575941676792299E-2</c:v>
                </c:pt>
                <c:pt idx="8">
                  <c:v>2.350965575146945E-2</c:v>
                </c:pt>
                <c:pt idx="9">
                  <c:v>0.16993118051879297</c:v>
                </c:pt>
                <c:pt idx="10">
                  <c:v>2.5832376578645237E-2</c:v>
                </c:pt>
                <c:pt idx="11">
                  <c:v>5.0577240241891086E-2</c:v>
                </c:pt>
                <c:pt idx="12">
                  <c:v>2.5522041763341101E-2</c:v>
                </c:pt>
              </c:numCache>
            </c:numRef>
          </c:val>
          <c:extLst>
            <c:ext xmlns:c16="http://schemas.microsoft.com/office/drawing/2014/chart" uri="{C3380CC4-5D6E-409C-BE32-E72D297353CC}">
              <c16:uniqueId val="{0000001A-0EC1-4511-AC0B-A53D58201483}"/>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r"/>
      <c:layout>
        <c:manualLayout>
          <c:xMode val="edge"/>
          <c:yMode val="edge"/>
          <c:x val="0.65260116937468293"/>
          <c:y val="0.15040432087283254"/>
          <c:w val="0.33786629277100866"/>
          <c:h val="0.75497495611824905"/>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32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MOM Inflation for R+U Sector from June 2022 - May 2023</a:t>
            </a:r>
          </a:p>
        </c:rich>
      </c:tx>
      <c:overlay val="0"/>
      <c:spPr>
        <a:noFill/>
        <a:ln>
          <a:noFill/>
        </a:ln>
        <a:effectLst/>
      </c:spPr>
      <c:txPr>
        <a:bodyPr rot="0" spcFirstLastPara="1" vertOverflow="ellipsis" vert="horz" wrap="square" anchor="ctr" anchorCtr="1"/>
        <a:lstStyle/>
        <a:p>
          <a:pPr>
            <a:defRPr sz="132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spPr>
            <a:solidFill>
              <a:srgbClr val="FFC000"/>
            </a:solidFill>
            <a:ln>
              <a:noFill/>
            </a:ln>
            <a:effectLst>
              <a:outerShdw blurRad="57150" dist="19050" dir="5400000" algn="ctr" rotWithShape="0">
                <a:srgbClr val="000000">
                  <a:alpha val="63000"/>
                </a:srgbClr>
              </a:outerShdw>
            </a:effectLst>
          </c:spPr>
          <c:invertIfNegative val="0"/>
          <c:dPt>
            <c:idx val="0"/>
            <c:invertIfNegative val="0"/>
            <c:bubble3D val="0"/>
            <c:spPr>
              <a:solidFill>
                <a:srgbClr val="FF000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DF37-4ABA-8E20-C6EEA76A29F9}"/>
              </c:ext>
            </c:extLst>
          </c:dPt>
          <c:dPt>
            <c:idx val="5"/>
            <c:invertIfNegative val="0"/>
            <c:bubble3D val="0"/>
            <c:spPr>
              <a:solidFill>
                <a:srgbClr val="FFC00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DF37-4ABA-8E20-C6EEA76A29F9}"/>
              </c:ext>
            </c:extLst>
          </c:dPt>
          <c:dPt>
            <c:idx val="6"/>
            <c:invertIfNegative val="0"/>
            <c:bubble3D val="0"/>
            <c:spPr>
              <a:solidFill>
                <a:srgbClr val="0000C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DF37-4ABA-8E20-C6EEA76A29F9}"/>
              </c:ext>
            </c:extLst>
          </c:dPt>
          <c:dPt>
            <c:idx val="7"/>
            <c:invertIfNegative val="0"/>
            <c:bubble3D val="0"/>
            <c:spPr>
              <a:solidFill>
                <a:srgbClr val="FFC00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DF37-4ABA-8E20-C6EEA76A29F9}"/>
              </c:ext>
            </c:extLst>
          </c:dPt>
          <c:dPt>
            <c:idx val="8"/>
            <c:invertIfNegative val="0"/>
            <c:bubble3D val="0"/>
            <c:spPr>
              <a:solidFill>
                <a:srgbClr val="0000C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9-DF37-4ABA-8E20-C6EEA76A29F9}"/>
              </c:ext>
            </c:extLst>
          </c:dPt>
          <c:dPt>
            <c:idx val="10"/>
            <c:invertIfNegative val="0"/>
            <c:bubble3D val="0"/>
            <c:spPr>
              <a:solidFill>
                <a:srgbClr val="FFC00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B-DF37-4ABA-8E20-C6EEA76A29F9}"/>
              </c:ext>
            </c:extLst>
          </c:dPt>
          <c:dLbls>
            <c:spPr>
              <a:noFill/>
              <a:ln>
                <a:noFill/>
              </a:ln>
              <a:effectLst/>
            </c:spPr>
            <c:txPr>
              <a:bodyPr rot="0" spcFirstLastPara="1" vertOverflow="ellipsis" vert="horz" wrap="square" anchor="ctr" anchorCtr="1"/>
              <a:lstStyle/>
              <a:p>
                <a:pPr>
                  <a:defRPr sz="11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'PS3'!$AO$7:$AP$18</c:f>
              <c:multiLvlStrCache>
                <c:ptCount val="12"/>
                <c:lvl>
                  <c:pt idx="0">
                    <c:v>June</c:v>
                  </c:pt>
                  <c:pt idx="1">
                    <c:v>July</c:v>
                  </c:pt>
                  <c:pt idx="2">
                    <c:v>August</c:v>
                  </c:pt>
                  <c:pt idx="3">
                    <c:v>September</c:v>
                  </c:pt>
                  <c:pt idx="4">
                    <c:v>October</c:v>
                  </c:pt>
                  <c:pt idx="5">
                    <c:v>November</c:v>
                  </c:pt>
                  <c:pt idx="6">
                    <c:v>December</c:v>
                  </c:pt>
                  <c:pt idx="7">
                    <c:v>January</c:v>
                  </c:pt>
                  <c:pt idx="8">
                    <c:v>February</c:v>
                  </c:pt>
                  <c:pt idx="9">
                    <c:v>March</c:v>
                  </c:pt>
                  <c:pt idx="10">
                    <c:v>April</c:v>
                  </c:pt>
                  <c:pt idx="11">
                    <c:v>May</c:v>
                  </c:pt>
                </c:lvl>
                <c:lvl>
                  <c:pt idx="0">
                    <c:v>2022</c:v>
                  </c:pt>
                  <c:pt idx="1">
                    <c:v>2022</c:v>
                  </c:pt>
                  <c:pt idx="2">
                    <c:v>2022</c:v>
                  </c:pt>
                  <c:pt idx="3">
                    <c:v>2022</c:v>
                  </c:pt>
                  <c:pt idx="4">
                    <c:v>2022</c:v>
                  </c:pt>
                  <c:pt idx="5">
                    <c:v>2022</c:v>
                  </c:pt>
                  <c:pt idx="6">
                    <c:v>2022</c:v>
                  </c:pt>
                  <c:pt idx="7">
                    <c:v>2023</c:v>
                  </c:pt>
                  <c:pt idx="8">
                    <c:v>2023</c:v>
                  </c:pt>
                  <c:pt idx="9">
                    <c:v>2023</c:v>
                  </c:pt>
                  <c:pt idx="10">
                    <c:v>2023</c:v>
                  </c:pt>
                  <c:pt idx="11">
                    <c:v>2023</c:v>
                  </c:pt>
                </c:lvl>
              </c:multiLvlStrCache>
            </c:multiLvlStrRef>
          </c:cat>
          <c:val>
            <c:numRef>
              <c:f>'PS3'!$AR$7:$AR$18</c:f>
              <c:numCache>
                <c:formatCode>0.00</c:formatCode>
                <c:ptCount val="12"/>
                <c:pt idx="0">
                  <c:v>1.0272901871454425</c:v>
                </c:pt>
                <c:pt idx="1">
                  <c:v>0.19452672531943327</c:v>
                </c:pt>
                <c:pt idx="2">
                  <c:v>0.12796187618585006</c:v>
                </c:pt>
                <c:pt idx="3">
                  <c:v>0.51560021152829516</c:v>
                </c:pt>
                <c:pt idx="4">
                  <c:v>0.71901442413082706</c:v>
                </c:pt>
                <c:pt idx="5">
                  <c:v>-2.1764680276851682E-2</c:v>
                </c:pt>
                <c:pt idx="6">
                  <c:v>-0.58342041100662179</c:v>
                </c:pt>
                <c:pt idx="7">
                  <c:v>0.40728737847069707</c:v>
                </c:pt>
                <c:pt idx="8">
                  <c:v>-0.59318707201117182</c:v>
                </c:pt>
                <c:pt idx="9">
                  <c:v>4.3876968978992913E-3</c:v>
                </c:pt>
                <c:pt idx="10">
                  <c:v>0.456300456300479</c:v>
                </c:pt>
                <c:pt idx="11">
                  <c:v>0.75559049615652807</c:v>
                </c:pt>
              </c:numCache>
            </c:numRef>
          </c:val>
          <c:extLst>
            <c:ext xmlns:c16="http://schemas.microsoft.com/office/drawing/2014/chart" uri="{C3380CC4-5D6E-409C-BE32-E72D297353CC}">
              <c16:uniqueId val="{0000000C-DF37-4ABA-8E20-C6EEA76A29F9}"/>
            </c:ext>
          </c:extLst>
        </c:ser>
        <c:dLbls>
          <c:dLblPos val="outEnd"/>
          <c:showLegendKey val="0"/>
          <c:showVal val="1"/>
          <c:showCatName val="0"/>
          <c:showSerName val="0"/>
          <c:showPercent val="0"/>
          <c:showBubbleSize val="0"/>
        </c:dLbls>
        <c:gapWidth val="100"/>
        <c:overlap val="-24"/>
        <c:axId val="66288064"/>
        <c:axId val="66291424"/>
      </c:barChart>
      <c:catAx>
        <c:axId val="66288064"/>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00" b="0" i="0" u="none" strike="noStrike" kern="1200" baseline="0">
                <a:solidFill>
                  <a:schemeClr val="lt1">
                    <a:lumMod val="85000"/>
                  </a:schemeClr>
                </a:solidFill>
                <a:latin typeface="+mn-lt"/>
                <a:ea typeface="+mn-ea"/>
                <a:cs typeface="+mn-cs"/>
              </a:defRPr>
            </a:pPr>
            <a:endParaRPr lang="en-US"/>
          </a:p>
        </c:txPr>
        <c:crossAx val="66291424"/>
        <c:crosses val="autoZero"/>
        <c:auto val="1"/>
        <c:lblAlgn val="ctr"/>
        <c:lblOffset val="100"/>
        <c:noMultiLvlLbl val="0"/>
      </c:catAx>
      <c:valAx>
        <c:axId val="66291424"/>
        <c:scaling>
          <c:orientation val="minMax"/>
        </c:scaling>
        <c:delete val="0"/>
        <c:axPos val="l"/>
        <c:majorGridlines>
          <c:spPr>
            <a:ln w="9525" cap="flat" cmpd="sng" algn="ctr">
              <a:solidFill>
                <a:schemeClr val="lt1">
                  <a:lumMod val="95000"/>
                  <a:alpha val="10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lt1">
                    <a:lumMod val="85000"/>
                  </a:schemeClr>
                </a:solidFill>
                <a:latin typeface="+mn-lt"/>
                <a:ea typeface="+mn-ea"/>
                <a:cs typeface="+mn-cs"/>
              </a:defRPr>
            </a:pPr>
            <a:endParaRPr lang="en-US"/>
          </a:p>
        </c:txPr>
        <c:crossAx val="66288064"/>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1100" b="0" i="0" u="none" strike="noStrike" kern="1200" baseline="0">
                <a:solidFill>
                  <a:schemeClr val="lt1">
                    <a:lumMod val="8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sz="1100"/>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sz="1800" b="1" i="0" u="none" strike="noStrike" kern="1200" baseline="0" dirty="0">
                <a:solidFill>
                  <a:srgbClr val="FF0000"/>
                </a:solidFill>
              </a:rPr>
              <a:t>Contribution of sub category under Food Basket for R +U sector</a:t>
            </a:r>
            <a:endParaRPr lang="en-US" sz="1800" b="1" i="0" u="none" strike="noStrike" kern="1200" baseline="0" dirty="0">
              <a:solidFill>
                <a:sysClr val="windowText" lastClr="000000">
                  <a:lumMod val="75000"/>
                  <a:lumOff val="25000"/>
                </a:sysClr>
              </a:solidFill>
            </a:endParaRPr>
          </a:p>
        </c:rich>
      </c:tx>
      <c:overlay val="0"/>
      <c:spPr>
        <a:solidFill>
          <a:srgbClr val="FFFF00"/>
        </a:solid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manualLayout>
          <c:layoutTarget val="inner"/>
          <c:xMode val="edge"/>
          <c:yMode val="edge"/>
          <c:x val="5.1199137453524966E-2"/>
          <c:y val="0.12859727667270346"/>
          <c:w val="0.58023045871139833"/>
          <c:h val="0.74605495294391966"/>
        </c:manualLayout>
      </c:layout>
      <c:doughnut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8094-4F77-8EE9-7EB718B58BC9}"/>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8094-4F77-8EE9-7EB718B58BC9}"/>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8094-4F77-8EE9-7EB718B58BC9}"/>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8094-4F77-8EE9-7EB718B58BC9}"/>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8094-4F77-8EE9-7EB718B58BC9}"/>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8094-4F77-8EE9-7EB718B58BC9}"/>
              </c:ext>
            </c:extLst>
          </c:dPt>
          <c:dPt>
            <c:idx val="6"/>
            <c:bubble3D val="0"/>
            <c:spPr>
              <a:solidFill>
                <a:schemeClr val="accent1">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D-8094-4F77-8EE9-7EB718B58BC9}"/>
              </c:ext>
            </c:extLst>
          </c:dPt>
          <c:dPt>
            <c:idx val="7"/>
            <c:bubble3D val="0"/>
            <c:spPr>
              <a:solidFill>
                <a:schemeClr val="accent2">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F-8094-4F77-8EE9-7EB718B58BC9}"/>
              </c:ext>
            </c:extLst>
          </c:dPt>
          <c:dPt>
            <c:idx val="8"/>
            <c:bubble3D val="0"/>
            <c:spPr>
              <a:solidFill>
                <a:schemeClr val="accent3">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1-8094-4F77-8EE9-7EB718B58BC9}"/>
              </c:ext>
            </c:extLst>
          </c:dPt>
          <c:dPt>
            <c:idx val="9"/>
            <c:bubble3D val="0"/>
            <c:spPr>
              <a:solidFill>
                <a:schemeClr val="accent4">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3-8094-4F77-8EE9-7EB718B58BC9}"/>
              </c:ext>
            </c:extLst>
          </c:dPt>
          <c:dPt>
            <c:idx val="10"/>
            <c:bubble3D val="0"/>
            <c:spPr>
              <a:solidFill>
                <a:schemeClr val="accent5">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5-8094-4F77-8EE9-7EB718B58BC9}"/>
              </c:ext>
            </c:extLst>
          </c:dPt>
          <c:dPt>
            <c:idx val="11"/>
            <c:bubble3D val="0"/>
            <c:spPr>
              <a:solidFill>
                <a:schemeClr val="accent6">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7-8094-4F77-8EE9-7EB718B58BC9}"/>
              </c:ext>
            </c:extLst>
          </c:dPt>
          <c:dPt>
            <c:idx val="12"/>
            <c:bubble3D val="0"/>
            <c:spPr>
              <a:solidFill>
                <a:schemeClr val="accent1">
                  <a:lumMod val="80000"/>
                  <a:lumOff val="2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9-8094-4F77-8EE9-7EB718B58BC9}"/>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'PS3'!$AT$31:$BF$31</c:f>
              <c:strCache>
                <c:ptCount val="13"/>
                <c:pt idx="0">
                  <c:v>Cereals and products</c:v>
                </c:pt>
                <c:pt idx="1">
                  <c:v>Meat and fish</c:v>
                </c:pt>
                <c:pt idx="2">
                  <c:v>Egg</c:v>
                </c:pt>
                <c:pt idx="3">
                  <c:v>Milk and products</c:v>
                </c:pt>
                <c:pt idx="4">
                  <c:v>Oils and fats</c:v>
                </c:pt>
                <c:pt idx="5">
                  <c:v>Fruits</c:v>
                </c:pt>
                <c:pt idx="6">
                  <c:v>Vegetables</c:v>
                </c:pt>
                <c:pt idx="7">
                  <c:v>Pulses and products</c:v>
                </c:pt>
                <c:pt idx="8">
                  <c:v>Sugar and Confectionery</c:v>
                </c:pt>
                <c:pt idx="9">
                  <c:v>Spices</c:v>
                </c:pt>
                <c:pt idx="10">
                  <c:v>Non-alcoholic beverages</c:v>
                </c:pt>
                <c:pt idx="11">
                  <c:v>Prepared meals, snacks, sweets etc.</c:v>
                </c:pt>
                <c:pt idx="12">
                  <c:v>Food and beverages</c:v>
                </c:pt>
              </c:strCache>
            </c:strRef>
          </c:cat>
          <c:val>
            <c:numRef>
              <c:f>'PS3'!$AT$32:$BF$32</c:f>
              <c:numCache>
                <c:formatCode>General</c:formatCode>
                <c:ptCount val="13"/>
                <c:pt idx="0">
                  <c:v>0.1206451612903225</c:v>
                </c:pt>
                <c:pt idx="1">
                  <c:v>2.3245214220601614E-2</c:v>
                </c:pt>
                <c:pt idx="2">
                  <c:v>1.4051522248243426E-2</c:v>
                </c:pt>
                <c:pt idx="3">
                  <c:v>8.2629674306393175E-2</c:v>
                </c:pt>
                <c:pt idx="4">
                  <c:v>0.15380786460925835</c:v>
                </c:pt>
                <c:pt idx="5">
                  <c:v>1.4731879787860933E-2</c:v>
                </c:pt>
                <c:pt idx="6">
                  <c:v>0.11684037301151953</c:v>
                </c:pt>
                <c:pt idx="7">
                  <c:v>6.8776628119293873E-2</c:v>
                </c:pt>
                <c:pt idx="8">
                  <c:v>2.3352793994995805E-2</c:v>
                </c:pt>
                <c:pt idx="9">
                  <c:v>0.16515232495991453</c:v>
                </c:pt>
                <c:pt idx="10">
                  <c:v>3.2757593805836809E-2</c:v>
                </c:pt>
                <c:pt idx="11">
                  <c:v>5.6008700380641561E-2</c:v>
                </c:pt>
                <c:pt idx="12">
                  <c:v>2.4013722126929607E-2</c:v>
                </c:pt>
              </c:numCache>
            </c:numRef>
          </c:val>
          <c:extLst>
            <c:ext xmlns:c16="http://schemas.microsoft.com/office/drawing/2014/chart" uri="{C3380CC4-5D6E-409C-BE32-E72D297353CC}">
              <c16:uniqueId val="{0000001A-8094-4F77-8EE9-7EB718B58BC9}"/>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r"/>
      <c:layout>
        <c:manualLayout>
          <c:xMode val="edge"/>
          <c:yMode val="edge"/>
          <c:x val="0.67037119319405691"/>
          <c:y val="0.11373063229789954"/>
          <c:w val="0.31972314587671663"/>
          <c:h val="0.84362749129174852"/>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dirty="0"/>
              <a:t>Inflation % Before 2020 For Urban Sector</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barChart>
        <c:barDir val="col"/>
        <c:grouping val="clustered"/>
        <c:varyColors val="0"/>
        <c:ser>
          <c:idx val="0"/>
          <c:order val="0"/>
          <c:tx>
            <c:strRef>
              <c:f>'PS4'!$A$4</c:f>
              <c:strCache>
                <c:ptCount val="1"/>
                <c:pt idx="0">
                  <c:v>2018-19</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'PS4'!$B$3:$J$3</c:f>
              <c:strCache>
                <c:ptCount val="8"/>
                <c:pt idx="0">
                  <c:v>Food and beverages</c:v>
                </c:pt>
                <c:pt idx="1">
                  <c:v>Clothing and footwear</c:v>
                </c:pt>
                <c:pt idx="2">
                  <c:v>Housing</c:v>
                </c:pt>
                <c:pt idx="3">
                  <c:v>Fuel and light</c:v>
                </c:pt>
                <c:pt idx="4">
                  <c:v>Health</c:v>
                </c:pt>
                <c:pt idx="5">
                  <c:v>Education</c:v>
                </c:pt>
                <c:pt idx="6">
                  <c:v>Pan, tobacco and intoxicants</c:v>
                </c:pt>
                <c:pt idx="7">
                  <c:v>Miscellaneous</c:v>
                </c:pt>
              </c:strCache>
            </c:strRef>
          </c:cat>
          <c:val>
            <c:numRef>
              <c:f>'PS4'!$B$4:$J$4</c:f>
              <c:numCache>
                <c:formatCode>0.0</c:formatCode>
                <c:ptCount val="9"/>
                <c:pt idx="0">
                  <c:v>0.72780203784570596</c:v>
                </c:pt>
                <c:pt idx="1">
                  <c:v>5.2</c:v>
                </c:pt>
                <c:pt idx="2">
                  <c:v>6.7448680351906072</c:v>
                </c:pt>
                <c:pt idx="3">
                  <c:v>5.1219512195122041</c:v>
                </c:pt>
                <c:pt idx="4">
                  <c:v>7.0300157977883142</c:v>
                </c:pt>
                <c:pt idx="5">
                  <c:v>6.3281824871228798</c:v>
                </c:pt>
                <c:pt idx="6">
                  <c:v>5.916775032509749</c:v>
                </c:pt>
                <c:pt idx="7">
                  <c:v>4.4212218649517681</c:v>
                </c:pt>
              </c:numCache>
            </c:numRef>
          </c:val>
          <c:extLst>
            <c:ext xmlns:c16="http://schemas.microsoft.com/office/drawing/2014/chart" uri="{C3380CC4-5D6E-409C-BE32-E72D297353CC}">
              <c16:uniqueId val="{00000000-C4B2-431A-AA02-BA65FF753AC5}"/>
            </c:ext>
          </c:extLst>
        </c:ser>
        <c:ser>
          <c:idx val="1"/>
          <c:order val="1"/>
          <c:tx>
            <c:strRef>
              <c:f>'PS4'!$A$5</c:f>
              <c:strCache>
                <c:ptCount val="1"/>
                <c:pt idx="0">
                  <c:v>2019-20</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'PS4'!$B$3:$J$3</c:f>
              <c:strCache>
                <c:ptCount val="8"/>
                <c:pt idx="0">
                  <c:v>Food and beverages</c:v>
                </c:pt>
                <c:pt idx="1">
                  <c:v>Clothing and footwear</c:v>
                </c:pt>
                <c:pt idx="2">
                  <c:v>Housing</c:v>
                </c:pt>
                <c:pt idx="3">
                  <c:v>Fuel and light</c:v>
                </c:pt>
                <c:pt idx="4">
                  <c:v>Health</c:v>
                </c:pt>
                <c:pt idx="5">
                  <c:v>Education</c:v>
                </c:pt>
                <c:pt idx="6">
                  <c:v>Pan, tobacco and intoxicants</c:v>
                </c:pt>
                <c:pt idx="7">
                  <c:v>Miscellaneous</c:v>
                </c:pt>
              </c:strCache>
            </c:strRef>
          </c:cat>
          <c:val>
            <c:numRef>
              <c:f>'PS4'!$B$5:$J$5</c:f>
              <c:numCache>
                <c:formatCode>0.0</c:formatCode>
                <c:ptCount val="9"/>
                <c:pt idx="0">
                  <c:v>8.5982658959537606</c:v>
                </c:pt>
                <c:pt idx="1">
                  <c:v>3.2</c:v>
                </c:pt>
                <c:pt idx="2">
                  <c:v>4.6703296703296777</c:v>
                </c:pt>
                <c:pt idx="3">
                  <c:v>2.242846094354197</c:v>
                </c:pt>
                <c:pt idx="4">
                  <c:v>5.0922509225092289</c:v>
                </c:pt>
                <c:pt idx="5">
                  <c:v>4.5674740484429019</c:v>
                </c:pt>
                <c:pt idx="6">
                  <c:v>3.9287906691221641</c:v>
                </c:pt>
                <c:pt idx="7">
                  <c:v>4.8498845265588777</c:v>
                </c:pt>
              </c:numCache>
            </c:numRef>
          </c:val>
          <c:extLst>
            <c:ext xmlns:c16="http://schemas.microsoft.com/office/drawing/2014/chart" uri="{C3380CC4-5D6E-409C-BE32-E72D297353CC}">
              <c16:uniqueId val="{00000001-C4B2-431A-AA02-BA65FF753AC5}"/>
            </c:ext>
          </c:extLst>
        </c:ser>
        <c:dLbls>
          <c:dLblPos val="inEnd"/>
          <c:showLegendKey val="0"/>
          <c:showVal val="1"/>
          <c:showCatName val="0"/>
          <c:showSerName val="0"/>
          <c:showPercent val="0"/>
          <c:showBubbleSize val="0"/>
        </c:dLbls>
        <c:gapWidth val="65"/>
        <c:axId val="1748712287"/>
        <c:axId val="1748712767"/>
      </c:barChart>
      <c:catAx>
        <c:axId val="1748712287"/>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748712767"/>
        <c:crosses val="autoZero"/>
        <c:auto val="1"/>
        <c:lblAlgn val="ctr"/>
        <c:lblOffset val="100"/>
        <c:noMultiLvlLbl val="0"/>
      </c:catAx>
      <c:valAx>
        <c:axId val="1748712767"/>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0" sourceLinked="1"/>
        <c:majorTickMark val="none"/>
        <c:minorTickMark val="none"/>
        <c:tickLblPos val="nextTo"/>
        <c:crossAx val="1748712287"/>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dirty="0"/>
              <a:t>Inflation % After 2020 for Urban Sector</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barChart>
        <c:barDir val="col"/>
        <c:grouping val="clustered"/>
        <c:varyColors val="0"/>
        <c:ser>
          <c:idx val="0"/>
          <c:order val="0"/>
          <c:tx>
            <c:strRef>
              <c:f>'PS4'!$A$10</c:f>
              <c:strCache>
                <c:ptCount val="1"/>
                <c:pt idx="0">
                  <c:v>2020-21</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'PS4'!$B$9:$J$9</c:f>
              <c:strCache>
                <c:ptCount val="8"/>
                <c:pt idx="0">
                  <c:v>Food and beverages</c:v>
                </c:pt>
                <c:pt idx="1">
                  <c:v>Clothing and footwear</c:v>
                </c:pt>
                <c:pt idx="2">
                  <c:v>Housing</c:v>
                </c:pt>
                <c:pt idx="3">
                  <c:v>Fuel and light</c:v>
                </c:pt>
                <c:pt idx="4">
                  <c:v>Health</c:v>
                </c:pt>
                <c:pt idx="5">
                  <c:v>Education</c:v>
                </c:pt>
                <c:pt idx="6">
                  <c:v>Pan, tobacco and intoxicants</c:v>
                </c:pt>
                <c:pt idx="7">
                  <c:v>Miscellaneous</c:v>
                </c:pt>
              </c:strCache>
            </c:strRef>
          </c:cat>
          <c:val>
            <c:numRef>
              <c:f>'PS4'!$B$10:$J$10</c:f>
              <c:numCache>
                <c:formatCode>0.0</c:formatCode>
                <c:ptCount val="9"/>
                <c:pt idx="0">
                  <c:v>6.8529607451763024</c:v>
                </c:pt>
                <c:pt idx="1">
                  <c:v>3.4075104311543649</c:v>
                </c:pt>
                <c:pt idx="2">
                  <c:v>2.9527559055118111</c:v>
                </c:pt>
                <c:pt idx="3">
                  <c:v>6.1270801815431337</c:v>
                </c:pt>
                <c:pt idx="4">
                  <c:v>5.898876404494386</c:v>
                </c:pt>
                <c:pt idx="5">
                  <c:v>2.5810721376571846</c:v>
                </c:pt>
                <c:pt idx="6">
                  <c:v>11.045481393975184</c:v>
                </c:pt>
                <c:pt idx="7">
                  <c:v>6.607929515418502</c:v>
                </c:pt>
              </c:numCache>
            </c:numRef>
          </c:val>
          <c:extLst>
            <c:ext xmlns:c16="http://schemas.microsoft.com/office/drawing/2014/chart" uri="{C3380CC4-5D6E-409C-BE32-E72D297353CC}">
              <c16:uniqueId val="{00000000-9537-4091-88BC-A95126DF52A3}"/>
            </c:ext>
          </c:extLst>
        </c:ser>
        <c:ser>
          <c:idx val="1"/>
          <c:order val="1"/>
          <c:tx>
            <c:strRef>
              <c:f>'PS4'!$A$11</c:f>
              <c:strCache>
                <c:ptCount val="1"/>
                <c:pt idx="0">
                  <c:v>2021-22</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'PS4'!$B$9:$J$9</c:f>
              <c:strCache>
                <c:ptCount val="8"/>
                <c:pt idx="0">
                  <c:v>Food and beverages</c:v>
                </c:pt>
                <c:pt idx="1">
                  <c:v>Clothing and footwear</c:v>
                </c:pt>
                <c:pt idx="2">
                  <c:v>Housing</c:v>
                </c:pt>
                <c:pt idx="3">
                  <c:v>Fuel and light</c:v>
                </c:pt>
                <c:pt idx="4">
                  <c:v>Health</c:v>
                </c:pt>
                <c:pt idx="5">
                  <c:v>Education</c:v>
                </c:pt>
                <c:pt idx="6">
                  <c:v>Pan, tobacco and intoxicants</c:v>
                </c:pt>
                <c:pt idx="7">
                  <c:v>Miscellaneous</c:v>
                </c:pt>
              </c:strCache>
            </c:strRef>
          </c:cat>
          <c:val>
            <c:numRef>
              <c:f>'PS4'!$B$11:$J$11</c:f>
              <c:numCache>
                <c:formatCode>0.0</c:formatCode>
                <c:ptCount val="9"/>
                <c:pt idx="0">
                  <c:v>5.0435865504358617</c:v>
                </c:pt>
                <c:pt idx="1">
                  <c:v>6.5904505716207211</c:v>
                </c:pt>
                <c:pt idx="2">
                  <c:v>3.8878266411727176</c:v>
                </c:pt>
                <c:pt idx="3">
                  <c:v>14.96792587312901</c:v>
                </c:pt>
                <c:pt idx="4">
                  <c:v>7.6546233925290874</c:v>
                </c:pt>
                <c:pt idx="5">
                  <c:v>3.2903225806451575</c:v>
                </c:pt>
                <c:pt idx="6">
                  <c:v>4.5212765957446814</c:v>
                </c:pt>
                <c:pt idx="7">
                  <c:v>7.5757575757575761</c:v>
                </c:pt>
              </c:numCache>
            </c:numRef>
          </c:val>
          <c:extLst>
            <c:ext xmlns:c16="http://schemas.microsoft.com/office/drawing/2014/chart" uri="{C3380CC4-5D6E-409C-BE32-E72D297353CC}">
              <c16:uniqueId val="{00000001-9537-4091-88BC-A95126DF52A3}"/>
            </c:ext>
          </c:extLst>
        </c:ser>
        <c:dLbls>
          <c:dLblPos val="inEnd"/>
          <c:showLegendKey val="0"/>
          <c:showVal val="1"/>
          <c:showCatName val="0"/>
          <c:showSerName val="0"/>
          <c:showPercent val="0"/>
          <c:showBubbleSize val="0"/>
        </c:dLbls>
        <c:gapWidth val="65"/>
        <c:axId val="1748742047"/>
        <c:axId val="1748744927"/>
      </c:barChart>
      <c:catAx>
        <c:axId val="1748742047"/>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748744927"/>
        <c:crosses val="autoZero"/>
        <c:auto val="1"/>
        <c:lblAlgn val="ctr"/>
        <c:lblOffset val="100"/>
        <c:noMultiLvlLbl val="0"/>
      </c:catAx>
      <c:valAx>
        <c:axId val="1748744927"/>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0" sourceLinked="1"/>
        <c:majorTickMark val="none"/>
        <c:minorTickMark val="none"/>
        <c:tickLblPos val="nextTo"/>
        <c:crossAx val="1748742047"/>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dirty="0"/>
              <a:t>Inflation % Before 2020 for Rural Sector</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manualLayout>
          <c:layoutTarget val="inner"/>
          <c:xMode val="edge"/>
          <c:yMode val="edge"/>
          <c:x val="0.10572076570147287"/>
          <c:y val="0.16044644823220985"/>
          <c:w val="0.85625642819946968"/>
          <c:h val="0.36463901938118154"/>
        </c:manualLayout>
      </c:layout>
      <c:barChart>
        <c:barDir val="col"/>
        <c:grouping val="clustered"/>
        <c:varyColors val="0"/>
        <c:ser>
          <c:idx val="0"/>
          <c:order val="0"/>
          <c:tx>
            <c:strRef>
              <c:f>'PS4'!$M$4</c:f>
              <c:strCache>
                <c:ptCount val="1"/>
                <c:pt idx="0">
                  <c:v>2018-19</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'PS4'!$N$3:$V$3</c:f>
              <c:strCache>
                <c:ptCount val="8"/>
                <c:pt idx="0">
                  <c:v>Food and beverages</c:v>
                </c:pt>
                <c:pt idx="1">
                  <c:v>Clothing and footwear</c:v>
                </c:pt>
                <c:pt idx="2">
                  <c:v>Housing</c:v>
                </c:pt>
                <c:pt idx="3">
                  <c:v>Fuel and light</c:v>
                </c:pt>
                <c:pt idx="4">
                  <c:v>Health</c:v>
                </c:pt>
                <c:pt idx="5">
                  <c:v>Education</c:v>
                </c:pt>
                <c:pt idx="6">
                  <c:v>Pan, tobacco and intoxicants</c:v>
                </c:pt>
                <c:pt idx="7">
                  <c:v>Miscellaneous</c:v>
                </c:pt>
              </c:strCache>
            </c:strRef>
          </c:cat>
          <c:val>
            <c:numRef>
              <c:f>'PS4'!$N$4:$V$4</c:f>
              <c:numCache>
                <c:formatCode>0.0</c:formatCode>
                <c:ptCount val="9"/>
                <c:pt idx="0">
                  <c:v>0.365764447695684</c:v>
                </c:pt>
                <c:pt idx="1">
                  <c:v>3.4411562284927735</c:v>
                </c:pt>
                <c:pt idx="2">
                  <c:v>6.7448680351906072</c:v>
                </c:pt>
                <c:pt idx="3">
                  <c:v>6.060606060606065</c:v>
                </c:pt>
                <c:pt idx="4">
                  <c:v>7.1695294996265826</c:v>
                </c:pt>
                <c:pt idx="5">
                  <c:v>6.9434502505368769</c:v>
                </c:pt>
                <c:pt idx="6">
                  <c:v>6.2666666666666702</c:v>
                </c:pt>
                <c:pt idx="7">
                  <c:v>6.2883435582822003</c:v>
                </c:pt>
              </c:numCache>
            </c:numRef>
          </c:val>
          <c:extLst>
            <c:ext xmlns:c16="http://schemas.microsoft.com/office/drawing/2014/chart" uri="{C3380CC4-5D6E-409C-BE32-E72D297353CC}">
              <c16:uniqueId val="{00000000-2D8F-43E4-8597-C0C37E8BC700}"/>
            </c:ext>
          </c:extLst>
        </c:ser>
        <c:ser>
          <c:idx val="1"/>
          <c:order val="1"/>
          <c:tx>
            <c:strRef>
              <c:f>'PS4'!$M$5</c:f>
              <c:strCache>
                <c:ptCount val="1"/>
                <c:pt idx="0">
                  <c:v>2019-20</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'PS4'!$N$3:$V$3</c:f>
              <c:strCache>
                <c:ptCount val="8"/>
                <c:pt idx="0">
                  <c:v>Food and beverages</c:v>
                </c:pt>
                <c:pt idx="1">
                  <c:v>Clothing and footwear</c:v>
                </c:pt>
                <c:pt idx="2">
                  <c:v>Housing</c:v>
                </c:pt>
                <c:pt idx="3">
                  <c:v>Fuel and light</c:v>
                </c:pt>
                <c:pt idx="4">
                  <c:v>Health</c:v>
                </c:pt>
                <c:pt idx="5">
                  <c:v>Education</c:v>
                </c:pt>
                <c:pt idx="6">
                  <c:v>Pan, tobacco and intoxicants</c:v>
                </c:pt>
                <c:pt idx="7">
                  <c:v>Miscellaneous</c:v>
                </c:pt>
              </c:strCache>
            </c:strRef>
          </c:cat>
          <c:val>
            <c:numRef>
              <c:f>'PS4'!$N$5:$V$5</c:f>
              <c:numCache>
                <c:formatCode>0.0</c:formatCode>
                <c:ptCount val="9"/>
                <c:pt idx="0">
                  <c:v>4.8104956268221741</c:v>
                </c:pt>
                <c:pt idx="1">
                  <c:v>0.73186959414503938</c:v>
                </c:pt>
                <c:pt idx="2">
                  <c:v>4.6703296703296777</c:v>
                </c:pt>
                <c:pt idx="3">
                  <c:v>1.2244897959183751</c:v>
                </c:pt>
                <c:pt idx="4">
                  <c:v>7.2473867595818851</c:v>
                </c:pt>
                <c:pt idx="5">
                  <c:v>7.1619812583667928</c:v>
                </c:pt>
                <c:pt idx="6">
                  <c:v>4.5169385194479226</c:v>
                </c:pt>
                <c:pt idx="7">
                  <c:v>5.2669552669552751</c:v>
                </c:pt>
              </c:numCache>
            </c:numRef>
          </c:val>
          <c:extLst>
            <c:ext xmlns:c16="http://schemas.microsoft.com/office/drawing/2014/chart" uri="{C3380CC4-5D6E-409C-BE32-E72D297353CC}">
              <c16:uniqueId val="{00000001-2D8F-43E4-8597-C0C37E8BC700}"/>
            </c:ext>
          </c:extLst>
        </c:ser>
        <c:dLbls>
          <c:dLblPos val="inEnd"/>
          <c:showLegendKey val="0"/>
          <c:showVal val="1"/>
          <c:showCatName val="0"/>
          <c:showSerName val="0"/>
          <c:showPercent val="0"/>
          <c:showBubbleSize val="0"/>
        </c:dLbls>
        <c:gapWidth val="65"/>
        <c:axId val="1815401983"/>
        <c:axId val="1815404383"/>
      </c:barChart>
      <c:catAx>
        <c:axId val="1815401983"/>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815404383"/>
        <c:crosses val="autoZero"/>
        <c:auto val="1"/>
        <c:lblAlgn val="ctr"/>
        <c:lblOffset val="100"/>
        <c:noMultiLvlLbl val="0"/>
      </c:catAx>
      <c:valAx>
        <c:axId val="1815404383"/>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0" sourceLinked="1"/>
        <c:majorTickMark val="none"/>
        <c:minorTickMark val="none"/>
        <c:tickLblPos val="nextTo"/>
        <c:crossAx val="1815401983"/>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dirty="0"/>
              <a:t>Inflation % After 2020 for Rural Sector</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barChart>
        <c:barDir val="col"/>
        <c:grouping val="clustered"/>
        <c:varyColors val="0"/>
        <c:ser>
          <c:idx val="0"/>
          <c:order val="0"/>
          <c:tx>
            <c:strRef>
              <c:f>'PS4'!$M$10</c:f>
              <c:strCache>
                <c:ptCount val="1"/>
                <c:pt idx="0">
                  <c:v>2020-21</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'PS4'!$N$9:$V$9</c:f>
              <c:strCache>
                <c:ptCount val="8"/>
                <c:pt idx="0">
                  <c:v>Food and beverages</c:v>
                </c:pt>
                <c:pt idx="1">
                  <c:v>Clothing and footwear</c:v>
                </c:pt>
                <c:pt idx="2">
                  <c:v>Housing</c:v>
                </c:pt>
                <c:pt idx="3">
                  <c:v>Fuel and light</c:v>
                </c:pt>
                <c:pt idx="4">
                  <c:v>Health</c:v>
                </c:pt>
                <c:pt idx="5">
                  <c:v>Education</c:v>
                </c:pt>
                <c:pt idx="6">
                  <c:v>Pan, tobacco and intoxicants</c:v>
                </c:pt>
                <c:pt idx="7">
                  <c:v>Miscellaneous</c:v>
                </c:pt>
              </c:strCache>
            </c:strRef>
          </c:cat>
          <c:val>
            <c:numRef>
              <c:f>'PS4'!$N$10:$V$10</c:f>
              <c:numCache>
                <c:formatCode>0.0</c:formatCode>
                <c:ptCount val="9"/>
                <c:pt idx="0">
                  <c:v>7.4408901251738433</c:v>
                </c:pt>
                <c:pt idx="1">
                  <c:v>2.6420079260237777</c:v>
                </c:pt>
                <c:pt idx="2">
                  <c:v>2.9527559055118111</c:v>
                </c:pt>
                <c:pt idx="3">
                  <c:v>-0.26881720430107908</c:v>
                </c:pt>
                <c:pt idx="4">
                  <c:v>3.833658219623135</c:v>
                </c:pt>
                <c:pt idx="5">
                  <c:v>1.4366021236727118</c:v>
                </c:pt>
                <c:pt idx="6">
                  <c:v>9.483793517406971</c:v>
                </c:pt>
                <c:pt idx="7">
                  <c:v>5.3461274845784672</c:v>
                </c:pt>
              </c:numCache>
            </c:numRef>
          </c:val>
          <c:extLst>
            <c:ext xmlns:c16="http://schemas.microsoft.com/office/drawing/2014/chart" uri="{C3380CC4-5D6E-409C-BE32-E72D297353CC}">
              <c16:uniqueId val="{00000000-B4B3-47EC-989C-EF5F601FF54B}"/>
            </c:ext>
          </c:extLst>
        </c:ser>
        <c:ser>
          <c:idx val="1"/>
          <c:order val="1"/>
          <c:tx>
            <c:strRef>
              <c:f>'PS4'!$M$11</c:f>
              <c:strCache>
                <c:ptCount val="1"/>
                <c:pt idx="0">
                  <c:v>2021-22</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'PS4'!$N$9:$V$9</c:f>
              <c:strCache>
                <c:ptCount val="8"/>
                <c:pt idx="0">
                  <c:v>Food and beverages</c:v>
                </c:pt>
                <c:pt idx="1">
                  <c:v>Clothing and footwear</c:v>
                </c:pt>
                <c:pt idx="2">
                  <c:v>Housing</c:v>
                </c:pt>
                <c:pt idx="3">
                  <c:v>Fuel and light</c:v>
                </c:pt>
                <c:pt idx="4">
                  <c:v>Health</c:v>
                </c:pt>
                <c:pt idx="5">
                  <c:v>Education</c:v>
                </c:pt>
                <c:pt idx="6">
                  <c:v>Pan, tobacco and intoxicants</c:v>
                </c:pt>
                <c:pt idx="7">
                  <c:v>Miscellaneous</c:v>
                </c:pt>
              </c:strCache>
            </c:strRef>
          </c:cat>
          <c:val>
            <c:numRef>
              <c:f>'PS4'!$N$11:$V$11</c:f>
              <c:numCache>
                <c:formatCode>0.0</c:formatCode>
                <c:ptCount val="9"/>
                <c:pt idx="0">
                  <c:v>6.4724919093851128</c:v>
                </c:pt>
                <c:pt idx="1">
                  <c:v>8.2368082368082263</c:v>
                </c:pt>
                <c:pt idx="2">
                  <c:v>3.8878266411727176</c:v>
                </c:pt>
                <c:pt idx="3">
                  <c:v>9.5121951219512155</c:v>
                </c:pt>
                <c:pt idx="4">
                  <c:v>7.6345431789737104</c:v>
                </c:pt>
                <c:pt idx="5">
                  <c:v>3.694581280788177</c:v>
                </c:pt>
                <c:pt idx="6">
                  <c:v>4.3311403508771962</c:v>
                </c:pt>
                <c:pt idx="7">
                  <c:v>6.3375990249847689</c:v>
                </c:pt>
              </c:numCache>
            </c:numRef>
          </c:val>
          <c:extLst>
            <c:ext xmlns:c16="http://schemas.microsoft.com/office/drawing/2014/chart" uri="{C3380CC4-5D6E-409C-BE32-E72D297353CC}">
              <c16:uniqueId val="{00000001-B4B3-47EC-989C-EF5F601FF54B}"/>
            </c:ext>
          </c:extLst>
        </c:ser>
        <c:dLbls>
          <c:dLblPos val="inEnd"/>
          <c:showLegendKey val="0"/>
          <c:showVal val="1"/>
          <c:showCatName val="0"/>
          <c:showSerName val="0"/>
          <c:showPercent val="0"/>
          <c:showBubbleSize val="0"/>
        </c:dLbls>
        <c:gapWidth val="65"/>
        <c:axId val="1815412063"/>
        <c:axId val="1815409663"/>
      </c:barChart>
      <c:catAx>
        <c:axId val="1815412063"/>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815409663"/>
        <c:crosses val="autoZero"/>
        <c:auto val="1"/>
        <c:lblAlgn val="ctr"/>
        <c:lblOffset val="100"/>
        <c:noMultiLvlLbl val="0"/>
      </c:catAx>
      <c:valAx>
        <c:axId val="1815409663"/>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0" sourceLinked="1"/>
        <c:majorTickMark val="none"/>
        <c:minorTickMark val="none"/>
        <c:tickLblPos val="nextTo"/>
        <c:crossAx val="1815412063"/>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dirty="0"/>
              <a:t>Inflation % Before 2020 for Urban + Rural</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manualLayout>
          <c:layoutTarget val="inner"/>
          <c:xMode val="edge"/>
          <c:yMode val="edge"/>
          <c:x val="0.10847694978566551"/>
          <c:y val="0.21253330952022759"/>
          <c:w val="0.87490369346464902"/>
          <c:h val="0.28134674912222696"/>
        </c:manualLayout>
      </c:layout>
      <c:barChart>
        <c:barDir val="col"/>
        <c:grouping val="clustered"/>
        <c:varyColors val="0"/>
        <c:ser>
          <c:idx val="0"/>
          <c:order val="0"/>
          <c:tx>
            <c:strRef>
              <c:f>'PS4'!$Y$4</c:f>
              <c:strCache>
                <c:ptCount val="1"/>
                <c:pt idx="0">
                  <c:v>2018-19</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'PS4'!$Z$3:$AH$3</c:f>
              <c:strCache>
                <c:ptCount val="8"/>
                <c:pt idx="0">
                  <c:v>Food and beverages</c:v>
                </c:pt>
                <c:pt idx="1">
                  <c:v>Clothing and footwear</c:v>
                </c:pt>
                <c:pt idx="2">
                  <c:v>Housing</c:v>
                </c:pt>
                <c:pt idx="3">
                  <c:v>Fuel and light</c:v>
                </c:pt>
                <c:pt idx="4">
                  <c:v>Health</c:v>
                </c:pt>
                <c:pt idx="5">
                  <c:v>Education</c:v>
                </c:pt>
                <c:pt idx="6">
                  <c:v>Pan, tobacco and intoxicants</c:v>
                </c:pt>
                <c:pt idx="7">
                  <c:v>Miscellaneous</c:v>
                </c:pt>
              </c:strCache>
            </c:strRef>
          </c:cat>
          <c:val>
            <c:numRef>
              <c:f>'PS4'!$Z$4:$AH$4</c:f>
              <c:numCache>
                <c:formatCode>0.0</c:formatCode>
                <c:ptCount val="9"/>
                <c:pt idx="0">
                  <c:v>0.724112961622013</c:v>
                </c:pt>
                <c:pt idx="1">
                  <c:v>4.1369472182596372</c:v>
                </c:pt>
                <c:pt idx="2">
                  <c:v>6.7448680351906072</c:v>
                </c:pt>
                <c:pt idx="3">
                  <c:v>5.8025621703089811</c:v>
                </c:pt>
                <c:pt idx="4">
                  <c:v>7.1700991609458473</c:v>
                </c:pt>
                <c:pt idx="5">
                  <c:v>6.6957787481804862</c:v>
                </c:pt>
                <c:pt idx="6">
                  <c:v>6.2913907284768218</c:v>
                </c:pt>
                <c:pt idx="7">
                  <c:v>5.8039215686274552</c:v>
                </c:pt>
              </c:numCache>
            </c:numRef>
          </c:val>
          <c:extLst>
            <c:ext xmlns:c16="http://schemas.microsoft.com/office/drawing/2014/chart" uri="{C3380CC4-5D6E-409C-BE32-E72D297353CC}">
              <c16:uniqueId val="{00000000-5294-4423-A95B-B57A9BFB3335}"/>
            </c:ext>
          </c:extLst>
        </c:ser>
        <c:ser>
          <c:idx val="1"/>
          <c:order val="1"/>
          <c:tx>
            <c:strRef>
              <c:f>'PS4'!$Y$5</c:f>
              <c:strCache>
                <c:ptCount val="1"/>
                <c:pt idx="0">
                  <c:v>2019-20</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'PS4'!$Z$3:$AH$3</c:f>
              <c:strCache>
                <c:ptCount val="8"/>
                <c:pt idx="0">
                  <c:v>Food and beverages</c:v>
                </c:pt>
                <c:pt idx="1">
                  <c:v>Clothing and footwear</c:v>
                </c:pt>
                <c:pt idx="2">
                  <c:v>Housing</c:v>
                </c:pt>
                <c:pt idx="3">
                  <c:v>Fuel and light</c:v>
                </c:pt>
                <c:pt idx="4">
                  <c:v>Health</c:v>
                </c:pt>
                <c:pt idx="5">
                  <c:v>Education</c:v>
                </c:pt>
                <c:pt idx="6">
                  <c:v>Pan, tobacco and intoxicants</c:v>
                </c:pt>
                <c:pt idx="7">
                  <c:v>Miscellaneous</c:v>
                </c:pt>
              </c:strCache>
            </c:strRef>
          </c:cat>
          <c:val>
            <c:numRef>
              <c:f>'PS4'!$Z$5:$AH$5</c:f>
              <c:numCache>
                <c:formatCode>0.0</c:formatCode>
                <c:ptCount val="9"/>
                <c:pt idx="0">
                  <c:v>6.5420560747663519</c:v>
                </c:pt>
                <c:pt idx="1">
                  <c:v>1.7808219178082154</c:v>
                </c:pt>
                <c:pt idx="2">
                  <c:v>4.6703296703296777</c:v>
                </c:pt>
                <c:pt idx="3">
                  <c:v>1.3532763532763572</c:v>
                </c:pt>
                <c:pt idx="4">
                  <c:v>6.4056939501779357</c:v>
                </c:pt>
                <c:pt idx="5">
                  <c:v>5.593451568894964</c:v>
                </c:pt>
                <c:pt idx="6">
                  <c:v>4.2367601246105986</c:v>
                </c:pt>
                <c:pt idx="7">
                  <c:v>4.670126019273523</c:v>
                </c:pt>
              </c:numCache>
            </c:numRef>
          </c:val>
          <c:extLst>
            <c:ext xmlns:c16="http://schemas.microsoft.com/office/drawing/2014/chart" uri="{C3380CC4-5D6E-409C-BE32-E72D297353CC}">
              <c16:uniqueId val="{00000001-5294-4423-A95B-B57A9BFB3335}"/>
            </c:ext>
          </c:extLst>
        </c:ser>
        <c:dLbls>
          <c:dLblPos val="inEnd"/>
          <c:showLegendKey val="0"/>
          <c:showVal val="1"/>
          <c:showCatName val="0"/>
          <c:showSerName val="0"/>
          <c:showPercent val="0"/>
          <c:showBubbleSize val="0"/>
        </c:dLbls>
        <c:gapWidth val="65"/>
        <c:axId val="1815413983"/>
        <c:axId val="1815418303"/>
      </c:barChart>
      <c:catAx>
        <c:axId val="1815413983"/>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815418303"/>
        <c:crosses val="autoZero"/>
        <c:auto val="1"/>
        <c:lblAlgn val="ctr"/>
        <c:lblOffset val="100"/>
        <c:noMultiLvlLbl val="0"/>
      </c:catAx>
      <c:valAx>
        <c:axId val="1815418303"/>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0" sourceLinked="1"/>
        <c:majorTickMark val="none"/>
        <c:minorTickMark val="none"/>
        <c:tickLblPos val="nextTo"/>
        <c:crossAx val="1815413983"/>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dirty="0"/>
              <a:t>Inflation % After 2020 for Urban + Rural</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barChart>
        <c:barDir val="col"/>
        <c:grouping val="clustered"/>
        <c:varyColors val="0"/>
        <c:ser>
          <c:idx val="0"/>
          <c:order val="0"/>
          <c:tx>
            <c:strRef>
              <c:f>'PS4'!$Y$10</c:f>
              <c:strCache>
                <c:ptCount val="1"/>
                <c:pt idx="0">
                  <c:v>2020-21</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'PS4'!$Z$9:$AH$9</c:f>
              <c:strCache>
                <c:ptCount val="8"/>
                <c:pt idx="0">
                  <c:v>Food and beverages</c:v>
                </c:pt>
                <c:pt idx="1">
                  <c:v>Clothing and footwear</c:v>
                </c:pt>
                <c:pt idx="2">
                  <c:v>Housing</c:v>
                </c:pt>
                <c:pt idx="3">
                  <c:v>Fuel and light</c:v>
                </c:pt>
                <c:pt idx="4">
                  <c:v>Health</c:v>
                </c:pt>
                <c:pt idx="5">
                  <c:v>Education</c:v>
                </c:pt>
                <c:pt idx="6">
                  <c:v>Pan, tobacco and intoxicants</c:v>
                </c:pt>
                <c:pt idx="7">
                  <c:v>Miscellaneous</c:v>
                </c:pt>
              </c:strCache>
            </c:strRef>
          </c:cat>
          <c:val>
            <c:numRef>
              <c:f>'PS4'!$Z$10:$AH$10</c:f>
              <c:numCache>
                <c:formatCode>0.0</c:formatCode>
                <c:ptCount val="9"/>
                <c:pt idx="0">
                  <c:v>6.4777327935222822</c:v>
                </c:pt>
                <c:pt idx="1">
                  <c:v>2.7590847913862682</c:v>
                </c:pt>
                <c:pt idx="2">
                  <c:v>2.9527559055118111</c:v>
                </c:pt>
                <c:pt idx="3">
                  <c:v>2.1082220660576247</c:v>
                </c:pt>
                <c:pt idx="4">
                  <c:v>4.6153846153846194</c:v>
                </c:pt>
                <c:pt idx="5">
                  <c:v>2.1317829457364228</c:v>
                </c:pt>
                <c:pt idx="6">
                  <c:v>9.862522414823669</c:v>
                </c:pt>
                <c:pt idx="7">
                  <c:v>5.9490084985835736</c:v>
                </c:pt>
              </c:numCache>
            </c:numRef>
          </c:val>
          <c:extLst>
            <c:ext xmlns:c16="http://schemas.microsoft.com/office/drawing/2014/chart" uri="{C3380CC4-5D6E-409C-BE32-E72D297353CC}">
              <c16:uniqueId val="{00000000-F74C-4462-BE1E-D8B320102B98}"/>
            </c:ext>
          </c:extLst>
        </c:ser>
        <c:ser>
          <c:idx val="1"/>
          <c:order val="1"/>
          <c:tx>
            <c:strRef>
              <c:f>'PS4'!$Y$11</c:f>
              <c:strCache>
                <c:ptCount val="1"/>
                <c:pt idx="0">
                  <c:v>2021-22</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'PS4'!$Z$9:$AH$9</c:f>
              <c:strCache>
                <c:ptCount val="8"/>
                <c:pt idx="0">
                  <c:v>Food and beverages</c:v>
                </c:pt>
                <c:pt idx="1">
                  <c:v>Clothing and footwear</c:v>
                </c:pt>
                <c:pt idx="2">
                  <c:v>Housing</c:v>
                </c:pt>
                <c:pt idx="3">
                  <c:v>Fuel and light</c:v>
                </c:pt>
                <c:pt idx="4">
                  <c:v>Health</c:v>
                </c:pt>
                <c:pt idx="5">
                  <c:v>Education</c:v>
                </c:pt>
                <c:pt idx="6">
                  <c:v>Pan, tobacco and intoxicants</c:v>
                </c:pt>
                <c:pt idx="7">
                  <c:v>Miscellaneous</c:v>
                </c:pt>
              </c:strCache>
            </c:strRef>
          </c:cat>
          <c:val>
            <c:numRef>
              <c:f>'PS4'!$Z$11:$AH$11</c:f>
              <c:numCache>
                <c:formatCode>0.0</c:formatCode>
                <c:ptCount val="9"/>
                <c:pt idx="0">
                  <c:v>4.5627376425855442</c:v>
                </c:pt>
                <c:pt idx="1">
                  <c:v>7.6620825147347862</c:v>
                </c:pt>
                <c:pt idx="2">
                  <c:v>3.8878266411727176</c:v>
                </c:pt>
                <c:pt idx="3">
                  <c:v>11.837577426015132</c:v>
                </c:pt>
                <c:pt idx="4">
                  <c:v>7.2910491997628837</c:v>
                </c:pt>
                <c:pt idx="5">
                  <c:v>3.478810879190386</c:v>
                </c:pt>
                <c:pt idx="6">
                  <c:v>4.2708333333333268</c:v>
                </c:pt>
                <c:pt idx="7">
                  <c:v>7.1524064171123118</c:v>
                </c:pt>
              </c:numCache>
            </c:numRef>
          </c:val>
          <c:extLst>
            <c:ext xmlns:c16="http://schemas.microsoft.com/office/drawing/2014/chart" uri="{C3380CC4-5D6E-409C-BE32-E72D297353CC}">
              <c16:uniqueId val="{00000001-F74C-4462-BE1E-D8B320102B98}"/>
            </c:ext>
          </c:extLst>
        </c:ser>
        <c:dLbls>
          <c:dLblPos val="inEnd"/>
          <c:showLegendKey val="0"/>
          <c:showVal val="1"/>
          <c:showCatName val="0"/>
          <c:showSerName val="0"/>
          <c:showPercent val="0"/>
          <c:showBubbleSize val="0"/>
        </c:dLbls>
        <c:gapWidth val="65"/>
        <c:axId val="1815416863"/>
        <c:axId val="1815419263"/>
      </c:barChart>
      <c:catAx>
        <c:axId val="1815416863"/>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815419263"/>
        <c:crosses val="autoZero"/>
        <c:auto val="1"/>
        <c:lblAlgn val="ctr"/>
        <c:lblOffset val="100"/>
        <c:noMultiLvlLbl val="0"/>
      </c:catAx>
      <c:valAx>
        <c:axId val="1815419263"/>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0" sourceLinked="1"/>
        <c:majorTickMark val="none"/>
        <c:minorTickMark val="none"/>
        <c:tickLblPos val="nextTo"/>
        <c:crossAx val="1815416863"/>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1600" b="1" i="0" u="none" strike="noStrike" kern="1200" spc="100" baseline="0" dirty="0">
                <a:solidFill>
                  <a:prstClr val="white">
                    <a:lumMod val="95000"/>
                  </a:prstClr>
                </a:solidFill>
                <a:effectLst>
                  <a:outerShdw blurRad="50800" dist="38100" dir="5400000" algn="t" rotWithShape="0">
                    <a:prstClr val="black">
                      <a:alpha val="40000"/>
                    </a:prstClr>
                  </a:outerShdw>
                </a:effectLst>
              </a:rPr>
              <a:t>Imported OIL vs Categories</a:t>
            </a:r>
            <a:r>
              <a:rPr lang="en-US" sz="1600" dirty="0"/>
              <a:t> correlation for Rural</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manualLayout>
          <c:layoutTarget val="inner"/>
          <c:xMode val="edge"/>
          <c:yMode val="edge"/>
          <c:x val="3.1118685394849507E-2"/>
          <c:y val="7.5127457260026315E-2"/>
          <c:w val="0.94268500835754454"/>
          <c:h val="0.86244916062260157"/>
        </c:manualLayout>
      </c:layout>
      <c:barChart>
        <c:barDir val="bar"/>
        <c:grouping val="clustered"/>
        <c:varyColors val="0"/>
        <c:ser>
          <c:idx val="0"/>
          <c:order val="0"/>
          <c:tx>
            <c:strRef>
              <c:f>Sheet3!$BO$1:$BO$2</c:f>
              <c:strCache>
                <c:ptCount val="2"/>
                <c:pt idx="0">
                  <c:v>General index</c:v>
                </c:pt>
                <c:pt idx="1">
                  <c:v>correlation</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Pt>
            <c:idx val="2"/>
            <c:invertIfNegative val="0"/>
            <c:bubble3D val="0"/>
            <c:spPr>
              <a:solidFill>
                <a:srgbClr val="FF000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FC9D-4E8D-B633-A4F73543B139}"/>
              </c:ext>
            </c:extLst>
          </c:dPt>
          <c:dPt>
            <c:idx val="4"/>
            <c:invertIfNegative val="0"/>
            <c:bubble3D val="0"/>
            <c:spPr>
              <a:solidFill>
                <a:srgbClr val="00B05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FC9D-4E8D-B633-A4F73543B139}"/>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Sheet3!$AK$3:$AK$31</c:f>
              <c:strCache>
                <c:ptCount val="27"/>
                <c:pt idx="0">
                  <c:v>Cereals and products</c:v>
                </c:pt>
                <c:pt idx="1">
                  <c:v>Meat and fish</c:v>
                </c:pt>
                <c:pt idx="2">
                  <c:v>Egg</c:v>
                </c:pt>
                <c:pt idx="3">
                  <c:v>Milk and products</c:v>
                </c:pt>
                <c:pt idx="4">
                  <c:v>Oils and fats</c:v>
                </c:pt>
                <c:pt idx="5">
                  <c:v>Fruits</c:v>
                </c:pt>
                <c:pt idx="6">
                  <c:v>Vegetables</c:v>
                </c:pt>
                <c:pt idx="7">
                  <c:v>Pulses and products</c:v>
                </c:pt>
                <c:pt idx="8">
                  <c:v>Sugar and Confectionery</c:v>
                </c:pt>
                <c:pt idx="9">
                  <c:v>Spices</c:v>
                </c:pt>
                <c:pt idx="10">
                  <c:v>Non-alcoholic beverages</c:v>
                </c:pt>
                <c:pt idx="11">
                  <c:v>Prepared meals, snacks, sweets etc.</c:v>
                </c:pt>
                <c:pt idx="12">
                  <c:v>Food and beverages</c:v>
                </c:pt>
                <c:pt idx="13">
                  <c:v>Pan, tobacco and intoxicants</c:v>
                </c:pt>
                <c:pt idx="14">
                  <c:v>Clothing</c:v>
                </c:pt>
                <c:pt idx="15">
                  <c:v>Footwear</c:v>
                </c:pt>
                <c:pt idx="16">
                  <c:v>Clothing and footwear</c:v>
                </c:pt>
                <c:pt idx="17">
                  <c:v>Housing</c:v>
                </c:pt>
                <c:pt idx="18">
                  <c:v>Fuel and light</c:v>
                </c:pt>
                <c:pt idx="19">
                  <c:v>Household goods and services</c:v>
                </c:pt>
                <c:pt idx="20">
                  <c:v>Health</c:v>
                </c:pt>
                <c:pt idx="21">
                  <c:v>Transport and communication</c:v>
                </c:pt>
                <c:pt idx="22">
                  <c:v>Recreation and amusement</c:v>
                </c:pt>
                <c:pt idx="23">
                  <c:v>Education</c:v>
                </c:pt>
                <c:pt idx="24">
                  <c:v>Personal care and effects</c:v>
                </c:pt>
                <c:pt idx="25">
                  <c:v>Miscellaneous</c:v>
                </c:pt>
                <c:pt idx="26">
                  <c:v>General index</c:v>
                </c:pt>
              </c:strCache>
            </c:strRef>
          </c:cat>
          <c:val>
            <c:numRef>
              <c:f>Sheet3!$BO$3:$BO$31</c:f>
              <c:numCache>
                <c:formatCode>0.00</c:formatCode>
                <c:ptCount val="29"/>
                <c:pt idx="0">
                  <c:v>0.20564468484900067</c:v>
                </c:pt>
                <c:pt idx="1">
                  <c:v>0.74808675220367948</c:v>
                </c:pt>
                <c:pt idx="2">
                  <c:v>-0.21008183615411316</c:v>
                </c:pt>
                <c:pt idx="3">
                  <c:v>0.3068156990230233</c:v>
                </c:pt>
                <c:pt idx="4">
                  <c:v>0.813376825870331</c:v>
                </c:pt>
                <c:pt idx="5">
                  <c:v>0.48800386876142399</c:v>
                </c:pt>
                <c:pt idx="6">
                  <c:v>0.28522049387464671</c:v>
                </c:pt>
                <c:pt idx="7">
                  <c:v>0.21571302242336585</c:v>
                </c:pt>
                <c:pt idx="8">
                  <c:v>0.49145761192045839</c:v>
                </c:pt>
                <c:pt idx="9">
                  <c:v>0.29258741040833719</c:v>
                </c:pt>
                <c:pt idx="10">
                  <c:v>0.56054730824492516</c:v>
                </c:pt>
                <c:pt idx="11">
                  <c:v>0.44971205094341088</c:v>
                </c:pt>
                <c:pt idx="12">
                  <c:v>0.52702696129463966</c:v>
                </c:pt>
                <c:pt idx="13">
                  <c:v>0.37715204185382961</c:v>
                </c:pt>
                <c:pt idx="14">
                  <c:v>0.48398354352676376</c:v>
                </c:pt>
                <c:pt idx="15">
                  <c:v>0.52875455425938012</c:v>
                </c:pt>
                <c:pt idx="16">
                  <c:v>0.4904018342453717</c:v>
                </c:pt>
                <c:pt idx="17">
                  <c:v>0.3833915678517944</c:v>
                </c:pt>
                <c:pt idx="18">
                  <c:v>0.54179789058775485</c:v>
                </c:pt>
                <c:pt idx="19">
                  <c:v>0.44456427483525401</c:v>
                </c:pt>
                <c:pt idx="20">
                  <c:v>0.44106166255038282</c:v>
                </c:pt>
                <c:pt idx="21">
                  <c:v>0.61455437643858146</c:v>
                </c:pt>
                <c:pt idx="22">
                  <c:v>0.51522480516631997</c:v>
                </c:pt>
                <c:pt idx="23">
                  <c:v>0.40049432226194259</c:v>
                </c:pt>
                <c:pt idx="24">
                  <c:v>0.36362415882380023</c:v>
                </c:pt>
                <c:pt idx="25">
                  <c:v>0.47861521027043524</c:v>
                </c:pt>
                <c:pt idx="26">
                  <c:v>0.51532406604387426</c:v>
                </c:pt>
              </c:numCache>
            </c:numRef>
          </c:val>
          <c:extLst>
            <c:ext xmlns:c16="http://schemas.microsoft.com/office/drawing/2014/chart" uri="{C3380CC4-5D6E-409C-BE32-E72D297353CC}">
              <c16:uniqueId val="{00000004-FC9D-4E8D-B633-A4F73543B139}"/>
            </c:ext>
          </c:extLst>
        </c:ser>
        <c:dLbls>
          <c:dLblPos val="outEnd"/>
          <c:showLegendKey val="0"/>
          <c:showVal val="1"/>
          <c:showCatName val="0"/>
          <c:showSerName val="0"/>
          <c:showPercent val="0"/>
          <c:showBubbleSize val="0"/>
        </c:dLbls>
        <c:gapWidth val="115"/>
        <c:overlap val="-20"/>
        <c:axId val="764752255"/>
        <c:axId val="764766655"/>
      </c:barChart>
      <c:catAx>
        <c:axId val="764752255"/>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050" b="0" i="0" u="none" strike="noStrike" kern="1200" baseline="0">
                <a:solidFill>
                  <a:schemeClr val="lt1">
                    <a:lumMod val="85000"/>
                  </a:schemeClr>
                </a:solidFill>
                <a:latin typeface="+mn-lt"/>
                <a:ea typeface="+mn-ea"/>
                <a:cs typeface="+mn-cs"/>
              </a:defRPr>
            </a:pPr>
            <a:endParaRPr lang="en-US"/>
          </a:p>
        </c:txPr>
        <c:crossAx val="764766655"/>
        <c:crosses val="autoZero"/>
        <c:auto val="1"/>
        <c:lblAlgn val="ctr"/>
        <c:lblOffset val="100"/>
        <c:noMultiLvlLbl val="0"/>
      </c:catAx>
      <c:valAx>
        <c:axId val="764766655"/>
        <c:scaling>
          <c:orientation val="minMax"/>
        </c:scaling>
        <c:delete val="0"/>
        <c:axPos val="b"/>
        <c:majorGridlines>
          <c:spPr>
            <a:ln w="9525" cap="flat" cmpd="sng" algn="ctr">
              <a:solidFill>
                <a:schemeClr val="lt1">
                  <a:lumMod val="95000"/>
                  <a:alpha val="10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64752255"/>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Imported OIL vs Categories</a:t>
            </a:r>
            <a:r>
              <a:rPr lang="en-US" baseline="0" dirty="0"/>
              <a:t> </a:t>
            </a:r>
            <a:r>
              <a:rPr lang="en-US" dirty="0"/>
              <a:t>correlation for Urban</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bar"/>
        <c:grouping val="clustered"/>
        <c:varyColors val="0"/>
        <c:ser>
          <c:idx val="0"/>
          <c:order val="0"/>
          <c:tx>
            <c:strRef>
              <c:f>Sheet3!$AG$1:$AG$2</c:f>
              <c:strCache>
                <c:ptCount val="2"/>
                <c:pt idx="1">
                  <c:v>correlation</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Pt>
            <c:idx val="2"/>
            <c:invertIfNegative val="0"/>
            <c:bubble3D val="0"/>
            <c:spPr>
              <a:solidFill>
                <a:srgbClr val="FF000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85D9-4B25-8C4D-32DD8F6F6F2C}"/>
              </c:ext>
            </c:extLst>
          </c:dPt>
          <c:dPt>
            <c:idx val="4"/>
            <c:invertIfNegative val="0"/>
            <c:bubble3D val="0"/>
            <c:spPr>
              <a:solidFill>
                <a:srgbClr val="00B05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85D9-4B25-8C4D-32DD8F6F6F2C}"/>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Sheet3!$C$3:$C$31</c:f>
              <c:strCache>
                <c:ptCount val="27"/>
                <c:pt idx="0">
                  <c:v>Cereals and products</c:v>
                </c:pt>
                <c:pt idx="1">
                  <c:v>Meat and fish</c:v>
                </c:pt>
                <c:pt idx="2">
                  <c:v>Egg</c:v>
                </c:pt>
                <c:pt idx="3">
                  <c:v>Milk and products</c:v>
                </c:pt>
                <c:pt idx="4">
                  <c:v>Oils and fats</c:v>
                </c:pt>
                <c:pt idx="5">
                  <c:v>Fruits</c:v>
                </c:pt>
                <c:pt idx="6">
                  <c:v>Vegetables</c:v>
                </c:pt>
                <c:pt idx="7">
                  <c:v>Pulses and products</c:v>
                </c:pt>
                <c:pt idx="8">
                  <c:v>Sugar and Confectionery</c:v>
                </c:pt>
                <c:pt idx="9">
                  <c:v>Spices</c:v>
                </c:pt>
                <c:pt idx="10">
                  <c:v>Non-alcoholic beverages</c:v>
                </c:pt>
                <c:pt idx="11">
                  <c:v>Prepared meals, snacks, sweets etc.</c:v>
                </c:pt>
                <c:pt idx="12">
                  <c:v>Food and beverages</c:v>
                </c:pt>
                <c:pt idx="13">
                  <c:v>Pan, tobacco and intoxicants</c:v>
                </c:pt>
                <c:pt idx="14">
                  <c:v>Clothing</c:v>
                </c:pt>
                <c:pt idx="15">
                  <c:v>Footwear</c:v>
                </c:pt>
                <c:pt idx="16">
                  <c:v>Clothing and footwear</c:v>
                </c:pt>
                <c:pt idx="17">
                  <c:v>Housing</c:v>
                </c:pt>
                <c:pt idx="18">
                  <c:v>Fuel and light</c:v>
                </c:pt>
                <c:pt idx="19">
                  <c:v>Household goods and services</c:v>
                </c:pt>
                <c:pt idx="20">
                  <c:v>Health</c:v>
                </c:pt>
                <c:pt idx="21">
                  <c:v>Transport and communication</c:v>
                </c:pt>
                <c:pt idx="22">
                  <c:v>Recreation and amusement</c:v>
                </c:pt>
                <c:pt idx="23">
                  <c:v>Education</c:v>
                </c:pt>
                <c:pt idx="24">
                  <c:v>Personal care and effects</c:v>
                </c:pt>
                <c:pt idx="25">
                  <c:v>Miscellaneous</c:v>
                </c:pt>
                <c:pt idx="26">
                  <c:v>General index</c:v>
                </c:pt>
              </c:strCache>
            </c:strRef>
          </c:cat>
          <c:val>
            <c:numRef>
              <c:f>Sheet3!$AG$3:$AG$31</c:f>
              <c:numCache>
                <c:formatCode>0.00</c:formatCode>
                <c:ptCount val="29"/>
                <c:pt idx="0">
                  <c:v>0.21621126103784319</c:v>
                </c:pt>
                <c:pt idx="1">
                  <c:v>0.74948953808011276</c:v>
                </c:pt>
                <c:pt idx="2">
                  <c:v>-0.26705552453106857</c:v>
                </c:pt>
                <c:pt idx="3">
                  <c:v>0.30281564158574148</c:v>
                </c:pt>
                <c:pt idx="4">
                  <c:v>0.83120825851077085</c:v>
                </c:pt>
                <c:pt idx="5">
                  <c:v>0.40116278637804309</c:v>
                </c:pt>
                <c:pt idx="6">
                  <c:v>0.4465711478273503</c:v>
                </c:pt>
                <c:pt idx="7">
                  <c:v>1.8176214138897774E-3</c:v>
                </c:pt>
                <c:pt idx="8">
                  <c:v>0.49572841413146501</c:v>
                </c:pt>
                <c:pt idx="9">
                  <c:v>0.28707290718675166</c:v>
                </c:pt>
                <c:pt idx="10">
                  <c:v>0.43350306104657871</c:v>
                </c:pt>
                <c:pt idx="11">
                  <c:v>0.42795765883720149</c:v>
                </c:pt>
                <c:pt idx="12">
                  <c:v>0.55749784644193801</c:v>
                </c:pt>
                <c:pt idx="13">
                  <c:v>0.27735925065023465</c:v>
                </c:pt>
                <c:pt idx="14">
                  <c:v>0.46176982895259228</c:v>
                </c:pt>
                <c:pt idx="15">
                  <c:v>0.46661981581297091</c:v>
                </c:pt>
                <c:pt idx="16">
                  <c:v>0.46268098648149536</c:v>
                </c:pt>
                <c:pt idx="17">
                  <c:v>0.3833915678517944</c:v>
                </c:pt>
                <c:pt idx="18">
                  <c:v>0.51533049002545317</c:v>
                </c:pt>
                <c:pt idx="19">
                  <c:v>0.48124390252415661</c:v>
                </c:pt>
                <c:pt idx="20">
                  <c:v>0.41709057518777176</c:v>
                </c:pt>
                <c:pt idx="21">
                  <c:v>0.65257220619639089</c:v>
                </c:pt>
                <c:pt idx="22">
                  <c:v>0.56805051201045154</c:v>
                </c:pt>
                <c:pt idx="23">
                  <c:v>0.38827970588775146</c:v>
                </c:pt>
                <c:pt idx="24">
                  <c:v>0.32571315595052974</c:v>
                </c:pt>
                <c:pt idx="25">
                  <c:v>0.50336351634238741</c:v>
                </c:pt>
                <c:pt idx="26">
                  <c:v>0.50888905765206194</c:v>
                </c:pt>
              </c:numCache>
            </c:numRef>
          </c:val>
          <c:extLst>
            <c:ext xmlns:c16="http://schemas.microsoft.com/office/drawing/2014/chart" uri="{C3380CC4-5D6E-409C-BE32-E72D297353CC}">
              <c16:uniqueId val="{00000004-85D9-4B25-8C4D-32DD8F6F6F2C}"/>
            </c:ext>
          </c:extLst>
        </c:ser>
        <c:dLbls>
          <c:dLblPos val="outEnd"/>
          <c:showLegendKey val="0"/>
          <c:showVal val="1"/>
          <c:showCatName val="0"/>
          <c:showSerName val="0"/>
          <c:showPercent val="0"/>
          <c:showBubbleSize val="0"/>
        </c:dLbls>
        <c:gapWidth val="115"/>
        <c:overlap val="-20"/>
        <c:axId val="350654447"/>
        <c:axId val="350653007"/>
      </c:barChart>
      <c:catAx>
        <c:axId val="350654447"/>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crossAx val="350653007"/>
        <c:crosses val="autoZero"/>
        <c:auto val="1"/>
        <c:lblAlgn val="ctr"/>
        <c:lblOffset val="100"/>
        <c:noMultiLvlLbl val="0"/>
      </c:catAx>
      <c:valAx>
        <c:axId val="350653007"/>
        <c:scaling>
          <c:orientation val="minMax"/>
        </c:scaling>
        <c:delete val="0"/>
        <c:axPos val="b"/>
        <c:majorGridlines>
          <c:spPr>
            <a:ln w="9525" cap="flat" cmpd="sng" algn="ctr">
              <a:solidFill>
                <a:schemeClr val="lt1">
                  <a:lumMod val="95000"/>
                  <a:alpha val="10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350654447"/>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1600" b="1" i="0" u="none" strike="noStrike" kern="1200" spc="100" baseline="0" dirty="0">
                <a:solidFill>
                  <a:prstClr val="white">
                    <a:lumMod val="95000"/>
                  </a:prstClr>
                </a:solidFill>
                <a:effectLst>
                  <a:outerShdw blurRad="50800" dist="38100" dir="5400000" algn="t" rotWithShape="0">
                    <a:prstClr val="black">
                      <a:alpha val="40000"/>
                    </a:prstClr>
                  </a:outerShdw>
                </a:effectLst>
              </a:rPr>
              <a:t>Imported OIL vs Categories correlation for U+R</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bar"/>
        <c:grouping val="clustered"/>
        <c:varyColors val="0"/>
        <c:ser>
          <c:idx val="0"/>
          <c:order val="0"/>
          <c:tx>
            <c:strRef>
              <c:f>Sheet3!$CV$1:$CV$2</c:f>
              <c:strCache>
                <c:ptCount val="2"/>
                <c:pt idx="1">
                  <c:v>correlation</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Pt>
            <c:idx val="2"/>
            <c:invertIfNegative val="0"/>
            <c:bubble3D val="0"/>
            <c:spPr>
              <a:solidFill>
                <a:srgbClr val="FF000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0681-44A9-AABD-953BDDDBC1D8}"/>
              </c:ext>
            </c:extLst>
          </c:dPt>
          <c:dPt>
            <c:idx val="4"/>
            <c:invertIfNegative val="0"/>
            <c:bubble3D val="0"/>
            <c:spPr>
              <a:solidFill>
                <a:srgbClr val="00B05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0681-44A9-AABD-953BDDDBC1D8}"/>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Sheet3!$BR$3:$BR$31</c:f>
              <c:strCache>
                <c:ptCount val="27"/>
                <c:pt idx="0">
                  <c:v>Cereals and products</c:v>
                </c:pt>
                <c:pt idx="1">
                  <c:v>Meat and fish</c:v>
                </c:pt>
                <c:pt idx="2">
                  <c:v>Egg</c:v>
                </c:pt>
                <c:pt idx="3">
                  <c:v>Milk and products</c:v>
                </c:pt>
                <c:pt idx="4">
                  <c:v>Oils and fats</c:v>
                </c:pt>
                <c:pt idx="5">
                  <c:v>Fruits</c:v>
                </c:pt>
                <c:pt idx="6">
                  <c:v>Vegetables</c:v>
                </c:pt>
                <c:pt idx="7">
                  <c:v>Pulses and products</c:v>
                </c:pt>
                <c:pt idx="8">
                  <c:v>Sugar and Confectionery</c:v>
                </c:pt>
                <c:pt idx="9">
                  <c:v>Spices</c:v>
                </c:pt>
                <c:pt idx="10">
                  <c:v>Non-alcoholic beverages</c:v>
                </c:pt>
                <c:pt idx="11">
                  <c:v>Prepared meals, snacks, sweets etc.</c:v>
                </c:pt>
                <c:pt idx="12">
                  <c:v>Food and beverages</c:v>
                </c:pt>
                <c:pt idx="13">
                  <c:v>Pan, tobacco and intoxicants</c:v>
                </c:pt>
                <c:pt idx="14">
                  <c:v>Clothing</c:v>
                </c:pt>
                <c:pt idx="15">
                  <c:v>Footwear</c:v>
                </c:pt>
                <c:pt idx="16">
                  <c:v>Clothing and footwear</c:v>
                </c:pt>
                <c:pt idx="17">
                  <c:v>Housing</c:v>
                </c:pt>
                <c:pt idx="18">
                  <c:v>Fuel and light</c:v>
                </c:pt>
                <c:pt idx="19">
                  <c:v>Household goods and services</c:v>
                </c:pt>
                <c:pt idx="20">
                  <c:v>Health</c:v>
                </c:pt>
                <c:pt idx="21">
                  <c:v>Transport and communication</c:v>
                </c:pt>
                <c:pt idx="22">
                  <c:v>Recreation and amusement</c:v>
                </c:pt>
                <c:pt idx="23">
                  <c:v>Education</c:v>
                </c:pt>
                <c:pt idx="24">
                  <c:v>Personal care and effects</c:v>
                </c:pt>
                <c:pt idx="25">
                  <c:v>Miscellaneous</c:v>
                </c:pt>
                <c:pt idx="26">
                  <c:v>General index</c:v>
                </c:pt>
              </c:strCache>
            </c:strRef>
          </c:cat>
          <c:val>
            <c:numRef>
              <c:f>Sheet3!$CV$3:$CV$31</c:f>
              <c:numCache>
                <c:formatCode>0.00</c:formatCode>
                <c:ptCount val="29"/>
                <c:pt idx="0">
                  <c:v>0.20754698837168606</c:v>
                </c:pt>
                <c:pt idx="1">
                  <c:v>0.74892583086357623</c:v>
                </c:pt>
                <c:pt idx="2">
                  <c:v>-0.22457298262175956</c:v>
                </c:pt>
                <c:pt idx="3">
                  <c:v>0.30514696306353895</c:v>
                </c:pt>
                <c:pt idx="4">
                  <c:v>0.81711250393550872</c:v>
                </c:pt>
                <c:pt idx="5">
                  <c:v>0.45426512718339124</c:v>
                </c:pt>
                <c:pt idx="6">
                  <c:v>0.35712613173770824</c:v>
                </c:pt>
                <c:pt idx="7">
                  <c:v>0.1375529258894351</c:v>
                </c:pt>
                <c:pt idx="8">
                  <c:v>0.47634211941084292</c:v>
                </c:pt>
                <c:pt idx="9">
                  <c:v>0.29084551277962722</c:v>
                </c:pt>
                <c:pt idx="10">
                  <c:v>0.51237132976635857</c:v>
                </c:pt>
                <c:pt idx="11">
                  <c:v>0.4378299995476484</c:v>
                </c:pt>
                <c:pt idx="12">
                  <c:v>0.53865959674351171</c:v>
                </c:pt>
                <c:pt idx="13">
                  <c:v>0.35303390528189049</c:v>
                </c:pt>
                <c:pt idx="14">
                  <c:v>0.47548798305974965</c:v>
                </c:pt>
                <c:pt idx="15">
                  <c:v>0.50467840784974971</c:v>
                </c:pt>
                <c:pt idx="16">
                  <c:v>0.48032946447139341</c:v>
                </c:pt>
                <c:pt idx="17">
                  <c:v>0.3833915678517944</c:v>
                </c:pt>
                <c:pt idx="18">
                  <c:v>0.53047960374564163</c:v>
                </c:pt>
                <c:pt idx="19">
                  <c:v>0.46101930414033765</c:v>
                </c:pt>
                <c:pt idx="20">
                  <c:v>0.43012678248331288</c:v>
                </c:pt>
                <c:pt idx="21">
                  <c:v>0.63482818785535955</c:v>
                </c:pt>
                <c:pt idx="22">
                  <c:v>0.54851258917503143</c:v>
                </c:pt>
                <c:pt idx="23">
                  <c:v>0.39129862013563843</c:v>
                </c:pt>
                <c:pt idx="24">
                  <c:v>0.34937588336506448</c:v>
                </c:pt>
                <c:pt idx="25">
                  <c:v>0.49086308282087315</c:v>
                </c:pt>
                <c:pt idx="26">
                  <c:v>0.51250199259549023</c:v>
                </c:pt>
              </c:numCache>
            </c:numRef>
          </c:val>
          <c:extLst>
            <c:ext xmlns:c16="http://schemas.microsoft.com/office/drawing/2014/chart" uri="{C3380CC4-5D6E-409C-BE32-E72D297353CC}">
              <c16:uniqueId val="{00000004-0681-44A9-AABD-953BDDDBC1D8}"/>
            </c:ext>
          </c:extLst>
        </c:ser>
        <c:dLbls>
          <c:dLblPos val="outEnd"/>
          <c:showLegendKey val="0"/>
          <c:showVal val="1"/>
          <c:showCatName val="0"/>
          <c:showSerName val="0"/>
          <c:showPercent val="0"/>
          <c:showBubbleSize val="0"/>
        </c:dLbls>
        <c:gapWidth val="115"/>
        <c:overlap val="-20"/>
        <c:axId val="764753695"/>
        <c:axId val="764754175"/>
      </c:barChart>
      <c:catAx>
        <c:axId val="764753695"/>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crossAx val="764754175"/>
        <c:crosses val="autoZero"/>
        <c:auto val="1"/>
        <c:lblAlgn val="ctr"/>
        <c:lblOffset val="100"/>
        <c:noMultiLvlLbl val="0"/>
      </c:catAx>
      <c:valAx>
        <c:axId val="764754175"/>
        <c:scaling>
          <c:orientation val="minMax"/>
        </c:scaling>
        <c:delete val="0"/>
        <c:axPos val="b"/>
        <c:majorGridlines>
          <c:spPr>
            <a:ln w="9525" cap="flat" cmpd="sng" algn="ctr">
              <a:solidFill>
                <a:schemeClr val="lt1">
                  <a:lumMod val="95000"/>
                  <a:alpha val="10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64753695"/>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withinLinear" id="17">
  <a:schemeClr val="accent4"/>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45">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3"/>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dk1">
            <a:lumMod val="65000"/>
            <a:lumOff val="35000"/>
            <a:alpha val="75000"/>
          </a:schemeClr>
        </a:solidFill>
        <a:round/>
      </a:ln>
    </cs:spPr>
  </cs:gridlineMajor>
  <cs:gridlineMinor>
    <cs:lnRef idx="0"/>
    <cs:fillRef idx="0"/>
    <cs:effectRef idx="0"/>
    <cs:fontRef idx="minor">
      <a:schemeClr val="tx1"/>
    </cs:fontRef>
    <cs:spPr>
      <a:ln w="9525" cap="flat" cmpd="sng" algn="ctr">
        <a:solidFill>
          <a:schemeClr val="dk1">
            <a:lumMod val="65000"/>
            <a:lumOff val="35000"/>
            <a:alpha val="25000"/>
          </a:schemeClr>
        </a:soli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900" kern="1200"/>
    <cs:bodyPr/>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10.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14.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15.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16.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17.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18.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19.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0.41845</cdr:x>
      <cdr:y>0.13862</cdr:y>
    </cdr:from>
    <cdr:to>
      <cdr:x>0.5668</cdr:x>
      <cdr:y>0.22222</cdr:y>
    </cdr:to>
    <cdr:sp macro="" textlink="">
      <cdr:nvSpPr>
        <cdr:cNvPr id="2" name="Speech Bubble: Rectangle with Corners Rounded 1">
          <a:extLst xmlns:a="http://schemas.openxmlformats.org/drawingml/2006/main">
            <a:ext uri="{FF2B5EF4-FFF2-40B4-BE49-F238E27FC236}">
              <a16:creationId xmlns:a16="http://schemas.microsoft.com/office/drawing/2014/main" id="{772966A1-86B3-E171-5096-126CF51B9479}"/>
            </a:ext>
          </a:extLst>
        </cdr:cNvPr>
        <cdr:cNvSpPr/>
      </cdr:nvSpPr>
      <cdr:spPr>
        <a:xfrm xmlns:a="http://schemas.openxmlformats.org/drawingml/2006/main" rot="5400000">
          <a:off x="5719438" y="332958"/>
          <a:ext cx="573329" cy="1808725"/>
        </a:xfrm>
        <a:prstGeom xmlns:a="http://schemas.openxmlformats.org/drawingml/2006/main" prst="wedgeRoundRectCallout">
          <a:avLst>
            <a:gd name="adj1" fmla="val 18926"/>
            <a:gd name="adj2" fmla="val 70378"/>
            <a:gd name="adj3" fmla="val 16667"/>
          </a:avLst>
        </a:prstGeom>
        <a:solidFill xmlns:a="http://schemas.openxmlformats.org/drawingml/2006/main">
          <a:schemeClr val="accent5">
            <a:lumMod val="75000"/>
          </a:schemeClr>
        </a:solidFill>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t"/>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l"/>
          <a:endParaRPr lang="en-US" sz="1100" dirty="0"/>
        </a:p>
      </cdr:txBody>
    </cdr:sp>
  </cdr:relSizeAnchor>
  <cdr:relSizeAnchor xmlns:cdr="http://schemas.openxmlformats.org/drawingml/2006/chartDrawing">
    <cdr:from>
      <cdr:x>0.42202</cdr:x>
      <cdr:y>0.14286</cdr:y>
    </cdr:from>
    <cdr:to>
      <cdr:x>0.5582</cdr:x>
      <cdr:y>0.21164</cdr:y>
    </cdr:to>
    <cdr:sp macro="" textlink="">
      <cdr:nvSpPr>
        <cdr:cNvPr id="3" name="TextBox 4">
          <a:extLst xmlns:a="http://schemas.openxmlformats.org/drawingml/2006/main">
            <a:ext uri="{FF2B5EF4-FFF2-40B4-BE49-F238E27FC236}">
              <a16:creationId xmlns:a16="http://schemas.microsoft.com/office/drawing/2014/main" id="{814914CA-BCF3-F0C4-CFB3-321EA339DDC2}"/>
            </a:ext>
          </a:extLst>
        </cdr:cNvPr>
        <cdr:cNvSpPr txBox="1"/>
      </cdr:nvSpPr>
      <cdr:spPr>
        <a:xfrm xmlns:a="http://schemas.openxmlformats.org/drawingml/2006/main">
          <a:off x="5145268" y="979734"/>
          <a:ext cx="1660266" cy="471693"/>
        </a:xfrm>
        <a:prstGeom xmlns:a="http://schemas.openxmlformats.org/drawingml/2006/main" prst="rect">
          <a:avLst/>
        </a:prstGeom>
        <a:solidFill xmlns:a="http://schemas.openxmlformats.org/drawingml/2006/main">
          <a:schemeClr val="accent5">
            <a:lumMod val="75000"/>
          </a:schemeClr>
        </a:solidFill>
        <a:ln xmlns:a="http://schemas.openxmlformats.org/drawingml/2006/main" w="9525" cmpd="sng">
          <a:no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ctr"/>
        <a:lstStyle xmlns:a="http://schemas.openxmlformats.org/drawingml/2006/main">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xmlns:a="http://schemas.openxmlformats.org/drawingml/2006/main">
          <a:r>
            <a:rPr lang="en-US" sz="2000" dirty="0">
              <a:solidFill>
                <a:srgbClr val="FFFF00"/>
              </a:solidFill>
              <a:latin typeface="Aparajita" panose="02020603050405020304" pitchFamily="18" charset="0"/>
              <a:cs typeface="Aparajita" panose="02020603050405020304" pitchFamily="18" charset="0"/>
            </a:rPr>
            <a:t>Highest Inflation</a:t>
          </a:r>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A5B62-817C-5A7E-DD72-A23C68E3BF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106DE1-8D47-13DD-3A71-F91E0FAE8E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0ADAB1-DB64-FED7-B3D9-C2FF672991F8}"/>
              </a:ext>
            </a:extLst>
          </p:cNvPr>
          <p:cNvSpPr>
            <a:spLocks noGrp="1"/>
          </p:cNvSpPr>
          <p:nvPr>
            <p:ph type="dt" sz="half" idx="10"/>
          </p:nvPr>
        </p:nvSpPr>
        <p:spPr/>
        <p:txBody>
          <a:bodyPr/>
          <a:lstStyle/>
          <a:p>
            <a:fld id="{E23F9CFC-3CD1-4442-B97F-A43F67B7453D}" type="datetimeFigureOut">
              <a:rPr lang="en-US" smtClean="0"/>
              <a:t>9/25/2025</a:t>
            </a:fld>
            <a:endParaRPr lang="en-US" dirty="0"/>
          </a:p>
        </p:txBody>
      </p:sp>
      <p:sp>
        <p:nvSpPr>
          <p:cNvPr id="5" name="Footer Placeholder 4">
            <a:extLst>
              <a:ext uri="{FF2B5EF4-FFF2-40B4-BE49-F238E27FC236}">
                <a16:creationId xmlns:a16="http://schemas.microsoft.com/office/drawing/2014/main" id="{ED1EFD0A-3F73-1A8E-C83A-50261C8EDC1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5840BFE-18CD-CE19-D1E4-B03D8207449E}"/>
              </a:ext>
            </a:extLst>
          </p:cNvPr>
          <p:cNvSpPr>
            <a:spLocks noGrp="1"/>
          </p:cNvSpPr>
          <p:nvPr>
            <p:ph type="sldNum" sz="quarter" idx="12"/>
          </p:nvPr>
        </p:nvSpPr>
        <p:spPr/>
        <p:txBody>
          <a:bodyPr/>
          <a:lstStyle/>
          <a:p>
            <a:fld id="{9BD138CD-1966-41B1-B16E-5570FC77FF69}" type="slidenum">
              <a:rPr lang="en-US" smtClean="0"/>
              <a:t>‹#›</a:t>
            </a:fld>
            <a:endParaRPr lang="en-US" dirty="0"/>
          </a:p>
        </p:txBody>
      </p:sp>
    </p:spTree>
    <p:extLst>
      <p:ext uri="{BB962C8B-B14F-4D97-AF65-F5344CB8AC3E}">
        <p14:creationId xmlns:p14="http://schemas.microsoft.com/office/powerpoint/2010/main" val="312575755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FDEB5-197A-3CF3-B359-9CD657147D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69A6E4-E2B7-AEB3-8E50-7431235477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A92DE3-FFDA-A201-216F-F67D5663A644}"/>
              </a:ext>
            </a:extLst>
          </p:cNvPr>
          <p:cNvSpPr>
            <a:spLocks noGrp="1"/>
          </p:cNvSpPr>
          <p:nvPr>
            <p:ph type="dt" sz="half" idx="10"/>
          </p:nvPr>
        </p:nvSpPr>
        <p:spPr/>
        <p:txBody>
          <a:bodyPr/>
          <a:lstStyle/>
          <a:p>
            <a:fld id="{E23F9CFC-3CD1-4442-B97F-A43F67B7453D}" type="datetimeFigureOut">
              <a:rPr lang="en-US" smtClean="0"/>
              <a:t>9/25/2025</a:t>
            </a:fld>
            <a:endParaRPr lang="en-US" dirty="0"/>
          </a:p>
        </p:txBody>
      </p:sp>
      <p:sp>
        <p:nvSpPr>
          <p:cNvPr id="5" name="Footer Placeholder 4">
            <a:extLst>
              <a:ext uri="{FF2B5EF4-FFF2-40B4-BE49-F238E27FC236}">
                <a16:creationId xmlns:a16="http://schemas.microsoft.com/office/drawing/2014/main" id="{6F73F1E9-8E4F-2B65-EDD8-7AF1729208F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7798A4E-B179-4042-B4AD-596B6CABD1CD}"/>
              </a:ext>
            </a:extLst>
          </p:cNvPr>
          <p:cNvSpPr>
            <a:spLocks noGrp="1"/>
          </p:cNvSpPr>
          <p:nvPr>
            <p:ph type="sldNum" sz="quarter" idx="12"/>
          </p:nvPr>
        </p:nvSpPr>
        <p:spPr/>
        <p:txBody>
          <a:bodyPr/>
          <a:lstStyle/>
          <a:p>
            <a:fld id="{9BD138CD-1966-41B1-B16E-5570FC77FF69}" type="slidenum">
              <a:rPr lang="en-US" smtClean="0"/>
              <a:t>‹#›</a:t>
            </a:fld>
            <a:endParaRPr lang="en-US" dirty="0"/>
          </a:p>
        </p:txBody>
      </p:sp>
    </p:spTree>
    <p:extLst>
      <p:ext uri="{BB962C8B-B14F-4D97-AF65-F5344CB8AC3E}">
        <p14:creationId xmlns:p14="http://schemas.microsoft.com/office/powerpoint/2010/main" val="346138345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A8CB1-D65C-CF02-7E38-93FC8E7498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F458D0-DF11-E441-B132-7D80B505B0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231461-2603-6D63-F45F-65D04C2D9264}"/>
              </a:ext>
            </a:extLst>
          </p:cNvPr>
          <p:cNvSpPr>
            <a:spLocks noGrp="1"/>
          </p:cNvSpPr>
          <p:nvPr>
            <p:ph type="dt" sz="half" idx="10"/>
          </p:nvPr>
        </p:nvSpPr>
        <p:spPr/>
        <p:txBody>
          <a:bodyPr/>
          <a:lstStyle/>
          <a:p>
            <a:fld id="{E23F9CFC-3CD1-4442-B97F-A43F67B7453D}" type="datetimeFigureOut">
              <a:rPr lang="en-US" smtClean="0"/>
              <a:t>9/25/2025</a:t>
            </a:fld>
            <a:endParaRPr lang="en-US" dirty="0"/>
          </a:p>
        </p:txBody>
      </p:sp>
      <p:sp>
        <p:nvSpPr>
          <p:cNvPr id="5" name="Footer Placeholder 4">
            <a:extLst>
              <a:ext uri="{FF2B5EF4-FFF2-40B4-BE49-F238E27FC236}">
                <a16:creationId xmlns:a16="http://schemas.microsoft.com/office/drawing/2014/main" id="{A9984D7E-4FD2-277B-9123-3259EBE3BBF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C662D18-5ABE-66AE-1CB9-0F4476B7E5A2}"/>
              </a:ext>
            </a:extLst>
          </p:cNvPr>
          <p:cNvSpPr>
            <a:spLocks noGrp="1"/>
          </p:cNvSpPr>
          <p:nvPr>
            <p:ph type="sldNum" sz="quarter" idx="12"/>
          </p:nvPr>
        </p:nvSpPr>
        <p:spPr/>
        <p:txBody>
          <a:bodyPr/>
          <a:lstStyle/>
          <a:p>
            <a:fld id="{9BD138CD-1966-41B1-B16E-5570FC77FF69}" type="slidenum">
              <a:rPr lang="en-US" smtClean="0"/>
              <a:t>‹#›</a:t>
            </a:fld>
            <a:endParaRPr lang="en-US" dirty="0"/>
          </a:p>
        </p:txBody>
      </p:sp>
    </p:spTree>
    <p:extLst>
      <p:ext uri="{BB962C8B-B14F-4D97-AF65-F5344CB8AC3E}">
        <p14:creationId xmlns:p14="http://schemas.microsoft.com/office/powerpoint/2010/main" val="261209679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96127-5AF0-DA96-2832-68C3FF262E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794E98-FD7C-EC19-35BE-E01651DEC3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FFDF94-2930-D37F-889D-D91A84B8E1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737CAD-3681-AA1D-BC0A-AB4EA99B90D2}"/>
              </a:ext>
            </a:extLst>
          </p:cNvPr>
          <p:cNvSpPr>
            <a:spLocks noGrp="1"/>
          </p:cNvSpPr>
          <p:nvPr>
            <p:ph type="dt" sz="half" idx="10"/>
          </p:nvPr>
        </p:nvSpPr>
        <p:spPr/>
        <p:txBody>
          <a:bodyPr/>
          <a:lstStyle/>
          <a:p>
            <a:fld id="{E23F9CFC-3CD1-4442-B97F-A43F67B7453D}" type="datetimeFigureOut">
              <a:rPr lang="en-US" smtClean="0"/>
              <a:t>9/25/2025</a:t>
            </a:fld>
            <a:endParaRPr lang="en-US" dirty="0"/>
          </a:p>
        </p:txBody>
      </p:sp>
      <p:sp>
        <p:nvSpPr>
          <p:cNvPr id="6" name="Footer Placeholder 5">
            <a:extLst>
              <a:ext uri="{FF2B5EF4-FFF2-40B4-BE49-F238E27FC236}">
                <a16:creationId xmlns:a16="http://schemas.microsoft.com/office/drawing/2014/main" id="{4441E049-D87C-76CB-B455-C318456E6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193DDAD-3F8C-D107-E7DF-F0998783F466}"/>
              </a:ext>
            </a:extLst>
          </p:cNvPr>
          <p:cNvSpPr>
            <a:spLocks noGrp="1"/>
          </p:cNvSpPr>
          <p:nvPr>
            <p:ph type="sldNum" sz="quarter" idx="12"/>
          </p:nvPr>
        </p:nvSpPr>
        <p:spPr/>
        <p:txBody>
          <a:bodyPr/>
          <a:lstStyle/>
          <a:p>
            <a:fld id="{9BD138CD-1966-41B1-B16E-5570FC77FF69}" type="slidenum">
              <a:rPr lang="en-US" smtClean="0"/>
              <a:t>‹#›</a:t>
            </a:fld>
            <a:endParaRPr lang="en-US" dirty="0"/>
          </a:p>
        </p:txBody>
      </p:sp>
    </p:spTree>
    <p:extLst>
      <p:ext uri="{BB962C8B-B14F-4D97-AF65-F5344CB8AC3E}">
        <p14:creationId xmlns:p14="http://schemas.microsoft.com/office/powerpoint/2010/main" val="176360652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5B1F3-051F-2DA1-0822-3C7AC917D8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F637597-BF5E-0AC6-AC32-642A8F60EF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AD42BB-3304-DC47-1CC1-DA3B5E5AF2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9F35E0-1DEC-DDB8-1780-E10DA833FD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D434E6-79CF-C703-0FEC-0AD175A1F2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7FE876-0EF8-450E-454D-E40931344772}"/>
              </a:ext>
            </a:extLst>
          </p:cNvPr>
          <p:cNvSpPr>
            <a:spLocks noGrp="1"/>
          </p:cNvSpPr>
          <p:nvPr>
            <p:ph type="dt" sz="half" idx="10"/>
          </p:nvPr>
        </p:nvSpPr>
        <p:spPr/>
        <p:txBody>
          <a:bodyPr/>
          <a:lstStyle/>
          <a:p>
            <a:fld id="{E23F9CFC-3CD1-4442-B97F-A43F67B7453D}" type="datetimeFigureOut">
              <a:rPr lang="en-US" smtClean="0"/>
              <a:t>9/25/2025</a:t>
            </a:fld>
            <a:endParaRPr lang="en-US" dirty="0"/>
          </a:p>
        </p:txBody>
      </p:sp>
      <p:sp>
        <p:nvSpPr>
          <p:cNvPr id="8" name="Footer Placeholder 7">
            <a:extLst>
              <a:ext uri="{FF2B5EF4-FFF2-40B4-BE49-F238E27FC236}">
                <a16:creationId xmlns:a16="http://schemas.microsoft.com/office/drawing/2014/main" id="{8E06DFE8-C907-2F5B-0F6E-D270F93AF34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479555A-3E03-0F9F-F1E4-B34AD0A070DF}"/>
              </a:ext>
            </a:extLst>
          </p:cNvPr>
          <p:cNvSpPr>
            <a:spLocks noGrp="1"/>
          </p:cNvSpPr>
          <p:nvPr>
            <p:ph type="sldNum" sz="quarter" idx="12"/>
          </p:nvPr>
        </p:nvSpPr>
        <p:spPr/>
        <p:txBody>
          <a:bodyPr/>
          <a:lstStyle/>
          <a:p>
            <a:fld id="{9BD138CD-1966-41B1-B16E-5570FC77FF69}" type="slidenum">
              <a:rPr lang="en-US" smtClean="0"/>
              <a:t>‹#›</a:t>
            </a:fld>
            <a:endParaRPr lang="en-US" dirty="0"/>
          </a:p>
        </p:txBody>
      </p:sp>
    </p:spTree>
    <p:extLst>
      <p:ext uri="{BB962C8B-B14F-4D97-AF65-F5344CB8AC3E}">
        <p14:creationId xmlns:p14="http://schemas.microsoft.com/office/powerpoint/2010/main" val="122069128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84EC3-2310-7325-EB2E-2F84096E87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561ADC-9762-1E19-DCD5-71B93340E34B}"/>
              </a:ext>
            </a:extLst>
          </p:cNvPr>
          <p:cNvSpPr>
            <a:spLocks noGrp="1"/>
          </p:cNvSpPr>
          <p:nvPr>
            <p:ph type="dt" sz="half" idx="10"/>
          </p:nvPr>
        </p:nvSpPr>
        <p:spPr/>
        <p:txBody>
          <a:bodyPr/>
          <a:lstStyle/>
          <a:p>
            <a:fld id="{E23F9CFC-3CD1-4442-B97F-A43F67B7453D}" type="datetimeFigureOut">
              <a:rPr lang="en-US" smtClean="0"/>
              <a:t>9/25/2025</a:t>
            </a:fld>
            <a:endParaRPr lang="en-US" dirty="0"/>
          </a:p>
        </p:txBody>
      </p:sp>
      <p:sp>
        <p:nvSpPr>
          <p:cNvPr id="4" name="Footer Placeholder 3">
            <a:extLst>
              <a:ext uri="{FF2B5EF4-FFF2-40B4-BE49-F238E27FC236}">
                <a16:creationId xmlns:a16="http://schemas.microsoft.com/office/drawing/2014/main" id="{C0F6C8A9-ADE7-6453-03A6-05BFBCFB526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B365C15-5C50-D007-75DE-52967A6987DC}"/>
              </a:ext>
            </a:extLst>
          </p:cNvPr>
          <p:cNvSpPr>
            <a:spLocks noGrp="1"/>
          </p:cNvSpPr>
          <p:nvPr>
            <p:ph type="sldNum" sz="quarter" idx="12"/>
          </p:nvPr>
        </p:nvSpPr>
        <p:spPr/>
        <p:txBody>
          <a:bodyPr/>
          <a:lstStyle/>
          <a:p>
            <a:fld id="{9BD138CD-1966-41B1-B16E-5570FC77FF69}" type="slidenum">
              <a:rPr lang="en-US" smtClean="0"/>
              <a:t>‹#›</a:t>
            </a:fld>
            <a:endParaRPr lang="en-US" dirty="0"/>
          </a:p>
        </p:txBody>
      </p:sp>
    </p:spTree>
    <p:extLst>
      <p:ext uri="{BB962C8B-B14F-4D97-AF65-F5344CB8AC3E}">
        <p14:creationId xmlns:p14="http://schemas.microsoft.com/office/powerpoint/2010/main" val="346226491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7C369A-5F37-8206-020C-858E2943A768}"/>
              </a:ext>
            </a:extLst>
          </p:cNvPr>
          <p:cNvSpPr>
            <a:spLocks noGrp="1"/>
          </p:cNvSpPr>
          <p:nvPr>
            <p:ph type="dt" sz="half" idx="10"/>
          </p:nvPr>
        </p:nvSpPr>
        <p:spPr/>
        <p:txBody>
          <a:bodyPr/>
          <a:lstStyle/>
          <a:p>
            <a:fld id="{E23F9CFC-3CD1-4442-B97F-A43F67B7453D}" type="datetimeFigureOut">
              <a:rPr lang="en-US" smtClean="0"/>
              <a:t>9/25/2025</a:t>
            </a:fld>
            <a:endParaRPr lang="en-US" dirty="0"/>
          </a:p>
        </p:txBody>
      </p:sp>
      <p:sp>
        <p:nvSpPr>
          <p:cNvPr id="3" name="Footer Placeholder 2">
            <a:extLst>
              <a:ext uri="{FF2B5EF4-FFF2-40B4-BE49-F238E27FC236}">
                <a16:creationId xmlns:a16="http://schemas.microsoft.com/office/drawing/2014/main" id="{901664A2-725A-BC66-3B60-D82B8C019C7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45872DC-4256-839C-7C18-8D908D2DF4B2}"/>
              </a:ext>
            </a:extLst>
          </p:cNvPr>
          <p:cNvSpPr>
            <a:spLocks noGrp="1"/>
          </p:cNvSpPr>
          <p:nvPr>
            <p:ph type="sldNum" sz="quarter" idx="12"/>
          </p:nvPr>
        </p:nvSpPr>
        <p:spPr/>
        <p:txBody>
          <a:bodyPr/>
          <a:lstStyle/>
          <a:p>
            <a:fld id="{9BD138CD-1966-41B1-B16E-5570FC77FF69}" type="slidenum">
              <a:rPr lang="en-US" smtClean="0"/>
              <a:t>‹#›</a:t>
            </a:fld>
            <a:endParaRPr lang="en-US" dirty="0"/>
          </a:p>
        </p:txBody>
      </p:sp>
    </p:spTree>
    <p:extLst>
      <p:ext uri="{BB962C8B-B14F-4D97-AF65-F5344CB8AC3E}">
        <p14:creationId xmlns:p14="http://schemas.microsoft.com/office/powerpoint/2010/main" val="73451784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D29F2-DC03-F720-72A4-10E7BA0E6F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61282A-9A8D-24C2-F662-57236B6054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0556D9-1EC3-B4A4-05CF-CDFEB6BBAD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0587E3-C635-05DA-1899-A717AA9A8D6F}"/>
              </a:ext>
            </a:extLst>
          </p:cNvPr>
          <p:cNvSpPr>
            <a:spLocks noGrp="1"/>
          </p:cNvSpPr>
          <p:nvPr>
            <p:ph type="dt" sz="half" idx="10"/>
          </p:nvPr>
        </p:nvSpPr>
        <p:spPr/>
        <p:txBody>
          <a:bodyPr/>
          <a:lstStyle/>
          <a:p>
            <a:fld id="{E23F9CFC-3CD1-4442-B97F-A43F67B7453D}" type="datetimeFigureOut">
              <a:rPr lang="en-US" smtClean="0"/>
              <a:t>9/25/2025</a:t>
            </a:fld>
            <a:endParaRPr lang="en-US" dirty="0"/>
          </a:p>
        </p:txBody>
      </p:sp>
      <p:sp>
        <p:nvSpPr>
          <p:cNvPr id="6" name="Footer Placeholder 5">
            <a:extLst>
              <a:ext uri="{FF2B5EF4-FFF2-40B4-BE49-F238E27FC236}">
                <a16:creationId xmlns:a16="http://schemas.microsoft.com/office/drawing/2014/main" id="{04817524-6FA2-D08A-711C-CE757164465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EEFD416-CF35-36BF-598D-82D4B53CB9DD}"/>
              </a:ext>
            </a:extLst>
          </p:cNvPr>
          <p:cNvSpPr>
            <a:spLocks noGrp="1"/>
          </p:cNvSpPr>
          <p:nvPr>
            <p:ph type="sldNum" sz="quarter" idx="12"/>
          </p:nvPr>
        </p:nvSpPr>
        <p:spPr/>
        <p:txBody>
          <a:bodyPr/>
          <a:lstStyle/>
          <a:p>
            <a:fld id="{9BD138CD-1966-41B1-B16E-5570FC77FF69}" type="slidenum">
              <a:rPr lang="en-US" smtClean="0"/>
              <a:t>‹#›</a:t>
            </a:fld>
            <a:endParaRPr lang="en-US" dirty="0"/>
          </a:p>
        </p:txBody>
      </p:sp>
    </p:spTree>
    <p:extLst>
      <p:ext uri="{BB962C8B-B14F-4D97-AF65-F5344CB8AC3E}">
        <p14:creationId xmlns:p14="http://schemas.microsoft.com/office/powerpoint/2010/main" val="166805611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603C9-B23B-CA06-6A19-7D04CBCF64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E30E61-D4EE-586D-1EB9-42270B58B5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B605300F-AFA5-7864-2ADE-EF149ECFD0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BD7F79-87F3-20DB-FAD5-38A153B1D610}"/>
              </a:ext>
            </a:extLst>
          </p:cNvPr>
          <p:cNvSpPr>
            <a:spLocks noGrp="1"/>
          </p:cNvSpPr>
          <p:nvPr>
            <p:ph type="dt" sz="half" idx="10"/>
          </p:nvPr>
        </p:nvSpPr>
        <p:spPr/>
        <p:txBody>
          <a:bodyPr/>
          <a:lstStyle/>
          <a:p>
            <a:fld id="{E23F9CFC-3CD1-4442-B97F-A43F67B7453D}" type="datetimeFigureOut">
              <a:rPr lang="en-US" smtClean="0"/>
              <a:t>9/25/2025</a:t>
            </a:fld>
            <a:endParaRPr lang="en-US" dirty="0"/>
          </a:p>
        </p:txBody>
      </p:sp>
      <p:sp>
        <p:nvSpPr>
          <p:cNvPr id="6" name="Footer Placeholder 5">
            <a:extLst>
              <a:ext uri="{FF2B5EF4-FFF2-40B4-BE49-F238E27FC236}">
                <a16:creationId xmlns:a16="http://schemas.microsoft.com/office/drawing/2014/main" id="{5BD348A5-3963-A46E-0D53-9A7D1FE167A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931D8CE-3EEB-9688-41C3-C18D1398FCC7}"/>
              </a:ext>
            </a:extLst>
          </p:cNvPr>
          <p:cNvSpPr>
            <a:spLocks noGrp="1"/>
          </p:cNvSpPr>
          <p:nvPr>
            <p:ph type="sldNum" sz="quarter" idx="12"/>
          </p:nvPr>
        </p:nvSpPr>
        <p:spPr/>
        <p:txBody>
          <a:bodyPr/>
          <a:lstStyle/>
          <a:p>
            <a:fld id="{9BD138CD-1966-41B1-B16E-5570FC77FF69}" type="slidenum">
              <a:rPr lang="en-US" smtClean="0"/>
              <a:t>‹#›</a:t>
            </a:fld>
            <a:endParaRPr lang="en-US" dirty="0"/>
          </a:p>
        </p:txBody>
      </p:sp>
    </p:spTree>
    <p:extLst>
      <p:ext uri="{BB962C8B-B14F-4D97-AF65-F5344CB8AC3E}">
        <p14:creationId xmlns:p14="http://schemas.microsoft.com/office/powerpoint/2010/main" val="267011704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2C9E7-1798-08DC-C623-1FA046F972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861E2A-8B20-F273-5D70-55BF082077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552B3C-D0C8-BAF2-C4AE-386A0F12AA47}"/>
              </a:ext>
            </a:extLst>
          </p:cNvPr>
          <p:cNvSpPr>
            <a:spLocks noGrp="1"/>
          </p:cNvSpPr>
          <p:nvPr>
            <p:ph type="dt" sz="half" idx="10"/>
          </p:nvPr>
        </p:nvSpPr>
        <p:spPr/>
        <p:txBody>
          <a:bodyPr/>
          <a:lstStyle/>
          <a:p>
            <a:fld id="{E23F9CFC-3CD1-4442-B97F-A43F67B7453D}" type="datetimeFigureOut">
              <a:rPr lang="en-US" smtClean="0"/>
              <a:t>9/25/2025</a:t>
            </a:fld>
            <a:endParaRPr lang="en-US" dirty="0"/>
          </a:p>
        </p:txBody>
      </p:sp>
      <p:sp>
        <p:nvSpPr>
          <p:cNvPr id="5" name="Footer Placeholder 4">
            <a:extLst>
              <a:ext uri="{FF2B5EF4-FFF2-40B4-BE49-F238E27FC236}">
                <a16:creationId xmlns:a16="http://schemas.microsoft.com/office/drawing/2014/main" id="{845D9FA9-3377-038E-0893-E2D066E1CDC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660C35F-BD64-E5A1-BDBF-49628F67BB78}"/>
              </a:ext>
            </a:extLst>
          </p:cNvPr>
          <p:cNvSpPr>
            <a:spLocks noGrp="1"/>
          </p:cNvSpPr>
          <p:nvPr>
            <p:ph type="sldNum" sz="quarter" idx="12"/>
          </p:nvPr>
        </p:nvSpPr>
        <p:spPr/>
        <p:txBody>
          <a:bodyPr/>
          <a:lstStyle/>
          <a:p>
            <a:fld id="{9BD138CD-1966-41B1-B16E-5570FC77FF69}" type="slidenum">
              <a:rPr lang="en-US" smtClean="0"/>
              <a:t>‹#›</a:t>
            </a:fld>
            <a:endParaRPr lang="en-US" dirty="0"/>
          </a:p>
        </p:txBody>
      </p:sp>
    </p:spTree>
    <p:extLst>
      <p:ext uri="{BB962C8B-B14F-4D97-AF65-F5344CB8AC3E}">
        <p14:creationId xmlns:p14="http://schemas.microsoft.com/office/powerpoint/2010/main" val="21109626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F6B9E7-513C-2D89-E78A-F038C85FC1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74C12A-8921-4259-CB8D-229B892202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DA65CE-7339-BBE8-74DB-D1DA7F0B7DA7}"/>
              </a:ext>
            </a:extLst>
          </p:cNvPr>
          <p:cNvSpPr>
            <a:spLocks noGrp="1"/>
          </p:cNvSpPr>
          <p:nvPr>
            <p:ph type="dt" sz="half" idx="10"/>
          </p:nvPr>
        </p:nvSpPr>
        <p:spPr/>
        <p:txBody>
          <a:bodyPr/>
          <a:lstStyle/>
          <a:p>
            <a:fld id="{E23F9CFC-3CD1-4442-B97F-A43F67B7453D}" type="datetimeFigureOut">
              <a:rPr lang="en-US" smtClean="0"/>
              <a:t>9/25/2025</a:t>
            </a:fld>
            <a:endParaRPr lang="en-US" dirty="0"/>
          </a:p>
        </p:txBody>
      </p:sp>
      <p:sp>
        <p:nvSpPr>
          <p:cNvPr id="5" name="Footer Placeholder 4">
            <a:extLst>
              <a:ext uri="{FF2B5EF4-FFF2-40B4-BE49-F238E27FC236}">
                <a16:creationId xmlns:a16="http://schemas.microsoft.com/office/drawing/2014/main" id="{A795370F-AF2E-2175-79C0-6B79929979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5182D7-6261-D6BB-BADC-04C6DE7235DC}"/>
              </a:ext>
            </a:extLst>
          </p:cNvPr>
          <p:cNvSpPr>
            <a:spLocks noGrp="1"/>
          </p:cNvSpPr>
          <p:nvPr>
            <p:ph type="sldNum" sz="quarter" idx="12"/>
          </p:nvPr>
        </p:nvSpPr>
        <p:spPr/>
        <p:txBody>
          <a:bodyPr/>
          <a:lstStyle/>
          <a:p>
            <a:fld id="{9BD138CD-1966-41B1-B16E-5570FC77FF69}" type="slidenum">
              <a:rPr lang="en-US" smtClean="0"/>
              <a:t>‹#›</a:t>
            </a:fld>
            <a:endParaRPr lang="en-US" dirty="0"/>
          </a:p>
        </p:txBody>
      </p:sp>
    </p:spTree>
    <p:extLst>
      <p:ext uri="{BB962C8B-B14F-4D97-AF65-F5344CB8AC3E}">
        <p14:creationId xmlns:p14="http://schemas.microsoft.com/office/powerpoint/2010/main" val="257539209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6F7233-1E2C-527A-0EE8-BAE57B99AD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0A8A18-269D-9BBD-F7E7-09E2FC2180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D2E351-B1C9-92ED-754E-D0D27BF94D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3F9CFC-3CD1-4442-B97F-A43F67B7453D}" type="datetimeFigureOut">
              <a:rPr lang="en-US" smtClean="0"/>
              <a:t>9/25/2025</a:t>
            </a:fld>
            <a:endParaRPr lang="en-US" dirty="0"/>
          </a:p>
        </p:txBody>
      </p:sp>
      <p:sp>
        <p:nvSpPr>
          <p:cNvPr id="5" name="Footer Placeholder 4">
            <a:extLst>
              <a:ext uri="{FF2B5EF4-FFF2-40B4-BE49-F238E27FC236}">
                <a16:creationId xmlns:a16="http://schemas.microsoft.com/office/drawing/2014/main" id="{BFB078D1-D910-0BF6-B257-F3DAF41C45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8842DF0-A827-DCE1-DCA2-DAB1446B8A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D138CD-1966-41B1-B16E-5570FC77FF69}" type="slidenum">
              <a:rPr lang="en-US" smtClean="0"/>
              <a:t>‹#›</a:t>
            </a:fld>
            <a:endParaRPr lang="en-US" dirty="0"/>
          </a:p>
        </p:txBody>
      </p:sp>
    </p:spTree>
    <p:extLst>
      <p:ext uri="{BB962C8B-B14F-4D97-AF65-F5344CB8AC3E}">
        <p14:creationId xmlns:p14="http://schemas.microsoft.com/office/powerpoint/2010/main" val="468747461"/>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thebluediamondgallery.com/typewriter/c/consumer-price-index.html"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pixabay.com/en/meeting-relationship-business-1020145/"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a:extLst>
            <a:ext uri="{FF2B5EF4-FFF2-40B4-BE49-F238E27FC236}">
              <a16:creationId xmlns:a16="http://schemas.microsoft.com/office/drawing/2014/main" id="{F9779089-EC9B-4C26-D1B3-1C0E10E4742D}"/>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92354D01-8998-8F2C-7756-B7FAC82E5CB8}"/>
              </a:ext>
            </a:extLst>
          </p:cNvPr>
          <p:cNvSpPr txBox="1">
            <a:spLocks/>
          </p:cNvSpPr>
          <p:nvPr/>
        </p:nvSpPr>
        <p:spPr>
          <a:xfrm rot="1107482">
            <a:off x="2790438" y="1877971"/>
            <a:ext cx="9144000" cy="7238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5400" b="1" dirty="0">
                <a:solidFill>
                  <a:schemeClr val="tx1">
                    <a:lumMod val="65000"/>
                    <a:lumOff val="35000"/>
                  </a:schemeClr>
                </a:solidFill>
                <a:latin typeface="Rockwell" panose="02060603020205020403" pitchFamily="18" charset="0"/>
              </a:rPr>
              <a:t> Case Study</a:t>
            </a:r>
          </a:p>
        </p:txBody>
      </p:sp>
    </p:spTree>
    <p:extLst>
      <p:ext uri="{BB962C8B-B14F-4D97-AF65-F5344CB8AC3E}">
        <p14:creationId xmlns:p14="http://schemas.microsoft.com/office/powerpoint/2010/main" val="372778183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EDF58-889E-BF17-5B56-318B9E1DEB1A}"/>
              </a:ext>
            </a:extLst>
          </p:cNvPr>
          <p:cNvSpPr>
            <a:spLocks noGrp="1"/>
          </p:cNvSpPr>
          <p:nvPr>
            <p:ph type="ctrTitle"/>
          </p:nvPr>
        </p:nvSpPr>
        <p:spPr>
          <a:xfrm>
            <a:off x="4062333" y="229127"/>
            <a:ext cx="4067331" cy="569626"/>
          </a:xfrm>
        </p:spPr>
        <p:txBody>
          <a:bodyPr>
            <a:normAutofit/>
          </a:bodyPr>
          <a:lstStyle/>
          <a:p>
            <a:pPr marL="457200" indent="-457200" algn="l">
              <a:buFont typeface="Wingdings" panose="05000000000000000000" pitchFamily="2" charset="2"/>
              <a:buChar char="q"/>
            </a:pPr>
            <a:r>
              <a:rPr lang="en-US" sz="2800" dirty="0">
                <a:latin typeface="Berlin Sans FB" panose="020E0602020502020306" pitchFamily="34" charset="0"/>
              </a:rPr>
              <a:t>Problem Statement :- 1</a:t>
            </a:r>
          </a:p>
        </p:txBody>
      </p:sp>
      <p:sp>
        <p:nvSpPr>
          <p:cNvPr id="4" name="TextBox 3">
            <a:extLst>
              <a:ext uri="{FF2B5EF4-FFF2-40B4-BE49-F238E27FC236}">
                <a16:creationId xmlns:a16="http://schemas.microsoft.com/office/drawing/2014/main" id="{D61D1DFC-9879-D4FB-0953-A83C9809693C}"/>
              </a:ext>
            </a:extLst>
          </p:cNvPr>
          <p:cNvSpPr txBox="1"/>
          <p:nvPr/>
        </p:nvSpPr>
        <p:spPr>
          <a:xfrm>
            <a:off x="841946" y="886794"/>
            <a:ext cx="10508104" cy="707886"/>
          </a:xfrm>
          <a:prstGeom prst="rect">
            <a:avLst/>
          </a:prstGeom>
          <a:noFill/>
        </p:spPr>
        <p:txBody>
          <a:bodyPr wrap="square" rtlCol="0">
            <a:spAutoFit/>
          </a:bodyPr>
          <a:lstStyle/>
          <a:p>
            <a:r>
              <a:rPr lang="en-US" sz="2000" b="1" dirty="0">
                <a:latin typeface="Castellar" panose="020A0402060406010301" pitchFamily="18" charset="0"/>
              </a:rPr>
              <a:t>Which Broader category has the highest contribution towards CPI inflation ?</a:t>
            </a:r>
          </a:p>
        </p:txBody>
      </p:sp>
      <p:sp>
        <p:nvSpPr>
          <p:cNvPr id="8" name="TextBox 6">
            <a:extLst>
              <a:ext uri="{FF2B5EF4-FFF2-40B4-BE49-F238E27FC236}">
                <a16:creationId xmlns:a16="http://schemas.microsoft.com/office/drawing/2014/main" id="{D217FC51-8A27-4E02-800B-68A173510198}"/>
              </a:ext>
            </a:extLst>
          </p:cNvPr>
          <p:cNvSpPr txBox="1"/>
          <p:nvPr/>
        </p:nvSpPr>
        <p:spPr>
          <a:xfrm>
            <a:off x="74951" y="1594680"/>
            <a:ext cx="12042098" cy="1739360"/>
          </a:xfrm>
          <a:prstGeom prst="rect">
            <a:avLst/>
          </a:prstGeom>
          <a:solidFill>
            <a:schemeClr val="accent1">
              <a:lumMod val="40000"/>
              <a:lumOff val="6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600" dirty="0"/>
              <a:t>Contribution</a:t>
            </a:r>
            <a:r>
              <a:rPr lang="en-US" sz="1600" baseline="0" dirty="0"/>
              <a:t> of different Broder Categories which includes :- Food Basket, Clothing and Footwear, Home Essentials, Essentials &amp; Luxury</a:t>
            </a:r>
            <a:r>
              <a:rPr lang="en-US" sz="1600" dirty="0"/>
              <a:t>.</a:t>
            </a:r>
            <a:endParaRPr lang="en-US" sz="1600" baseline="0" dirty="0"/>
          </a:p>
          <a:p>
            <a:pPr algn="ctr"/>
            <a:r>
              <a:rPr lang="en-US" sz="1600" b="1" dirty="0"/>
              <a:t>Key Insight</a:t>
            </a:r>
          </a:p>
          <a:p>
            <a:pPr algn="l"/>
            <a:r>
              <a:rPr lang="en-US" sz="1600" dirty="0"/>
              <a:t>* According to the analysis the contribution from</a:t>
            </a:r>
            <a:r>
              <a:rPr lang="en-US" sz="1600" baseline="0" dirty="0"/>
              <a:t> the all broader category from each sector</a:t>
            </a:r>
            <a:r>
              <a:rPr lang="en-US" sz="1600" dirty="0"/>
              <a:t> (Rural, Urban</a:t>
            </a:r>
            <a:r>
              <a:rPr lang="en-US" sz="1600" baseline="0" dirty="0"/>
              <a:t> &amp; Urban + Rural) showing the same pattern of contribution.</a:t>
            </a:r>
          </a:p>
          <a:p>
            <a:pPr algn="l"/>
            <a:r>
              <a:rPr lang="en-US" sz="1600" baseline="0" dirty="0"/>
              <a:t>* Pie Chart shows individual sector wise Contribution Where Food Basket has </a:t>
            </a:r>
            <a:r>
              <a:rPr lang="en-US" sz="1600" dirty="0"/>
              <a:t>the</a:t>
            </a:r>
            <a:r>
              <a:rPr lang="en-US" sz="1600" baseline="0" dirty="0"/>
              <a:t> highest contribution than any other category almost half of all.</a:t>
            </a:r>
            <a:endParaRPr lang="en-US" sz="1600" dirty="0"/>
          </a:p>
        </p:txBody>
      </p:sp>
      <p:graphicFrame>
        <p:nvGraphicFramePr>
          <p:cNvPr id="7" name="Chart 6">
            <a:extLst>
              <a:ext uri="{FF2B5EF4-FFF2-40B4-BE49-F238E27FC236}">
                <a16:creationId xmlns:a16="http://schemas.microsoft.com/office/drawing/2014/main" id="{9877FBCB-CE41-B4FF-026A-852D1E9111F6}"/>
              </a:ext>
            </a:extLst>
          </p:cNvPr>
          <p:cNvGraphicFramePr>
            <a:graphicFrameLocks/>
          </p:cNvGraphicFramePr>
          <p:nvPr>
            <p:extLst>
              <p:ext uri="{D42A27DB-BD31-4B8C-83A1-F6EECF244321}">
                <p14:modId xmlns:p14="http://schemas.microsoft.com/office/powerpoint/2010/main" val="3807857122"/>
              </p:ext>
            </p:extLst>
          </p:nvPr>
        </p:nvGraphicFramePr>
        <p:xfrm>
          <a:off x="5981075" y="3399020"/>
          <a:ext cx="6135974" cy="3429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F4078766-9948-9E82-5570-3B0421C37A70}"/>
              </a:ext>
            </a:extLst>
          </p:cNvPr>
          <p:cNvGraphicFramePr>
            <a:graphicFrameLocks/>
          </p:cNvGraphicFramePr>
          <p:nvPr>
            <p:extLst>
              <p:ext uri="{D42A27DB-BD31-4B8C-83A1-F6EECF244321}">
                <p14:modId xmlns:p14="http://schemas.microsoft.com/office/powerpoint/2010/main" val="2072014924"/>
              </p:ext>
            </p:extLst>
          </p:nvPr>
        </p:nvGraphicFramePr>
        <p:xfrm>
          <a:off x="74951" y="3399020"/>
          <a:ext cx="5756223" cy="3429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2961044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549F812D-E932-7D63-9F47-EA4089BD76CC}"/>
              </a:ext>
            </a:extLst>
          </p:cNvPr>
          <p:cNvGraphicFramePr>
            <a:graphicFrameLocks/>
          </p:cNvGraphicFramePr>
          <p:nvPr>
            <p:extLst>
              <p:ext uri="{D42A27DB-BD31-4B8C-83A1-F6EECF244321}">
                <p14:modId xmlns:p14="http://schemas.microsoft.com/office/powerpoint/2010/main" val="207752311"/>
              </p:ext>
            </p:extLst>
          </p:nvPr>
        </p:nvGraphicFramePr>
        <p:xfrm>
          <a:off x="149903" y="104931"/>
          <a:ext cx="11902190" cy="659567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7571659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8DCDEF-F10F-080C-EFBE-892B3974CD15}"/>
              </a:ext>
            </a:extLst>
          </p:cNvPr>
          <p:cNvSpPr txBox="1">
            <a:spLocks/>
          </p:cNvSpPr>
          <p:nvPr/>
        </p:nvSpPr>
        <p:spPr>
          <a:xfrm>
            <a:off x="4062334" y="216342"/>
            <a:ext cx="4067331" cy="569626"/>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en-US" sz="2800" dirty="0">
                <a:latin typeface="Berlin Sans FB" panose="020E0602020502020306" pitchFamily="34" charset="0"/>
              </a:rPr>
              <a:t>Problem Statement :- 2 </a:t>
            </a:r>
          </a:p>
        </p:txBody>
      </p:sp>
      <p:sp>
        <p:nvSpPr>
          <p:cNvPr id="5" name="TextBox 4">
            <a:extLst>
              <a:ext uri="{FF2B5EF4-FFF2-40B4-BE49-F238E27FC236}">
                <a16:creationId xmlns:a16="http://schemas.microsoft.com/office/drawing/2014/main" id="{2B5C5A85-BADA-BD15-A4BF-D74F388AE149}"/>
              </a:ext>
            </a:extLst>
          </p:cNvPr>
          <p:cNvSpPr txBox="1"/>
          <p:nvPr/>
        </p:nvSpPr>
        <p:spPr>
          <a:xfrm>
            <a:off x="841947" y="785968"/>
            <a:ext cx="10508104" cy="1384995"/>
          </a:xfrm>
          <a:prstGeom prst="rect">
            <a:avLst/>
          </a:prstGeom>
          <a:noFill/>
        </p:spPr>
        <p:txBody>
          <a:bodyPr wrap="square" rtlCol="0">
            <a:spAutoFit/>
          </a:bodyPr>
          <a:lstStyle/>
          <a:p>
            <a:r>
              <a:rPr lang="en-US" sz="2800" b="1" dirty="0">
                <a:latin typeface="Castellar" panose="020A0402060406010301" pitchFamily="18" charset="0"/>
              </a:rPr>
              <a:t>Identifying the year which has the highest inflation rate by depicting the growth rate Y-O-Y.</a:t>
            </a:r>
          </a:p>
        </p:txBody>
      </p:sp>
      <p:sp>
        <p:nvSpPr>
          <p:cNvPr id="7" name="TextBox 6">
            <a:extLst>
              <a:ext uri="{FF2B5EF4-FFF2-40B4-BE49-F238E27FC236}">
                <a16:creationId xmlns:a16="http://schemas.microsoft.com/office/drawing/2014/main" id="{36422AB5-33BB-BB3E-D185-EB8295EF6FFA}"/>
              </a:ext>
            </a:extLst>
          </p:cNvPr>
          <p:cNvSpPr txBox="1"/>
          <p:nvPr/>
        </p:nvSpPr>
        <p:spPr>
          <a:xfrm>
            <a:off x="374754" y="2269994"/>
            <a:ext cx="11467475" cy="4528046"/>
          </a:xfrm>
          <a:prstGeom prst="rect">
            <a:avLst/>
          </a:prstGeom>
          <a:solidFill>
            <a:schemeClr val="accent2">
              <a:lumMod val="60000"/>
              <a:lumOff val="4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400" b="1" dirty="0">
                <a:latin typeface="Engravers MT" panose="02090707080505020304" pitchFamily="18" charset="0"/>
              </a:rPr>
              <a:t>Year-On-Year</a:t>
            </a:r>
            <a:r>
              <a:rPr lang="en-US" sz="2400" b="1" baseline="0" dirty="0">
                <a:latin typeface="Engravers MT" panose="02090707080505020304" pitchFamily="18" charset="0"/>
              </a:rPr>
              <a:t> Inflation for (Rural + Urban) Sector</a:t>
            </a:r>
          </a:p>
          <a:p>
            <a:pPr algn="l"/>
            <a:r>
              <a:rPr lang="en-US" sz="2400" b="1" u="sng" baseline="0" dirty="0"/>
              <a:t>Observations :- </a:t>
            </a:r>
            <a:endParaRPr lang="en-US" sz="2400" b="1" u="none" baseline="0" dirty="0"/>
          </a:p>
          <a:p>
            <a:pPr marL="342900" indent="-342900">
              <a:buFont typeface="Arial" panose="020B0604020202020204" pitchFamily="34" charset="0"/>
              <a:buChar char="•"/>
            </a:pPr>
            <a:r>
              <a:rPr lang="en-US" sz="2400" dirty="0"/>
              <a:t>The highest inflation was recorded in </a:t>
            </a:r>
            <a:r>
              <a:rPr lang="en-US" sz="2400" b="1" dirty="0"/>
              <a:t>2019 (8%)</a:t>
            </a:r>
            <a:r>
              <a:rPr lang="en-US" sz="2400" dirty="0"/>
              <a:t>, marking a sharp jump from 2018’s low (2%).</a:t>
            </a:r>
          </a:p>
          <a:p>
            <a:pPr marL="342900" indent="-342900">
              <a:buFont typeface="Arial" panose="020B0604020202020204" pitchFamily="34" charset="0"/>
              <a:buChar char="•"/>
            </a:pPr>
            <a:r>
              <a:rPr lang="en-US" sz="2400" dirty="0"/>
              <a:t>The chart reflects alternating phases of sharp rises and falls, suggesting inflationary cycles rather than steady movement.</a:t>
            </a:r>
            <a:endParaRPr lang="en-US" sz="2400" b="0" u="none" baseline="0" dirty="0"/>
          </a:p>
          <a:p>
            <a:pPr algn="l"/>
            <a:r>
              <a:rPr lang="en-US" sz="2400" b="0" u="none" baseline="0" dirty="0"/>
              <a:t> </a:t>
            </a:r>
            <a:r>
              <a:rPr lang="en-US" sz="2400" b="1" u="sng" baseline="0" dirty="0">
                <a:solidFill>
                  <a:schemeClr val="dk1"/>
                </a:solidFill>
                <a:effectLst/>
                <a:latin typeface="+mn-lt"/>
                <a:ea typeface="+mn-ea"/>
                <a:cs typeface="+mn-cs"/>
              </a:rPr>
              <a:t>Reason Behind the Highest Inflation in 2019</a:t>
            </a:r>
            <a:r>
              <a:rPr lang="en-US" sz="2400" b="0" u="none" baseline="0" dirty="0"/>
              <a:t> </a:t>
            </a:r>
            <a:r>
              <a:rPr lang="en-US" sz="2400" b="1" u="none" baseline="0" dirty="0"/>
              <a:t>:-</a:t>
            </a:r>
          </a:p>
          <a:p>
            <a:r>
              <a:rPr lang="en-US" sz="2400" dirty="0"/>
              <a:t>In 2019, inflation spiked to </a:t>
            </a:r>
            <a:r>
              <a:rPr lang="en-US" sz="2400" b="1" dirty="0"/>
              <a:t>8%</a:t>
            </a:r>
            <a:r>
              <a:rPr lang="en-US" sz="2400" dirty="0"/>
              <a:t>, mainly due to a surge in food prices, higher global crude oil rates, and a weaker rupee that increased import costs. These combined supply-side pressures drove the sharp rise, while other countries might have seen different primary drivers.	</a:t>
            </a:r>
            <a:endParaRPr lang="en-US" sz="2400" b="1" u="none" dirty="0"/>
          </a:p>
        </p:txBody>
      </p:sp>
    </p:spTree>
    <p:extLst>
      <p:ext uri="{BB962C8B-B14F-4D97-AF65-F5344CB8AC3E}">
        <p14:creationId xmlns:p14="http://schemas.microsoft.com/office/powerpoint/2010/main" val="250622105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9204A863-CA95-59A9-149B-A73486BA0A81}"/>
              </a:ext>
            </a:extLst>
          </p:cNvPr>
          <p:cNvGraphicFramePr>
            <a:graphicFrameLocks/>
          </p:cNvGraphicFramePr>
          <p:nvPr>
            <p:extLst>
              <p:ext uri="{D42A27DB-BD31-4B8C-83A1-F6EECF244321}">
                <p14:modId xmlns:p14="http://schemas.microsoft.com/office/powerpoint/2010/main" val="1314574184"/>
              </p:ext>
            </p:extLst>
          </p:nvPr>
        </p:nvGraphicFramePr>
        <p:xfrm>
          <a:off x="0" y="0"/>
          <a:ext cx="12192000" cy="685799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8910536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B4961-1580-FDE1-BBDB-9476AB9AB7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4FDAC-A9B9-EC96-E189-662FAAD11BE5}"/>
              </a:ext>
            </a:extLst>
          </p:cNvPr>
          <p:cNvSpPr txBox="1">
            <a:spLocks/>
          </p:cNvSpPr>
          <p:nvPr/>
        </p:nvSpPr>
        <p:spPr>
          <a:xfrm>
            <a:off x="4062334" y="216342"/>
            <a:ext cx="4067331" cy="569626"/>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en-US" sz="2800" dirty="0">
                <a:latin typeface="Berlin Sans FB" panose="020E0602020502020306" pitchFamily="34" charset="0"/>
              </a:rPr>
              <a:t>Problem Statement :- 3 </a:t>
            </a:r>
          </a:p>
        </p:txBody>
      </p:sp>
      <p:sp>
        <p:nvSpPr>
          <p:cNvPr id="3" name="TextBox 2">
            <a:extLst>
              <a:ext uri="{FF2B5EF4-FFF2-40B4-BE49-F238E27FC236}">
                <a16:creationId xmlns:a16="http://schemas.microsoft.com/office/drawing/2014/main" id="{6134BADE-30E3-B8E7-F385-915FA1E5C334}"/>
              </a:ext>
            </a:extLst>
          </p:cNvPr>
          <p:cNvSpPr txBox="1"/>
          <p:nvPr/>
        </p:nvSpPr>
        <p:spPr>
          <a:xfrm>
            <a:off x="779489" y="785968"/>
            <a:ext cx="10585552" cy="1015663"/>
          </a:xfrm>
          <a:prstGeom prst="rect">
            <a:avLst/>
          </a:prstGeom>
          <a:noFill/>
        </p:spPr>
        <p:txBody>
          <a:bodyPr wrap="square" rtlCol="0">
            <a:spAutoFit/>
          </a:bodyPr>
          <a:lstStyle/>
          <a:p>
            <a:r>
              <a:rPr lang="en-US" sz="2000" b="1" dirty="0">
                <a:latin typeface="Castellar" panose="020A0402060406010301" pitchFamily="18" charset="0"/>
              </a:rPr>
              <a:t>Investigating trends in the prices of broader food category and evaluating month on month changes with identifying the biggest individual category contributor.</a:t>
            </a:r>
          </a:p>
        </p:txBody>
      </p:sp>
      <p:sp>
        <p:nvSpPr>
          <p:cNvPr id="5" name="TextBox 4">
            <a:extLst>
              <a:ext uri="{FF2B5EF4-FFF2-40B4-BE49-F238E27FC236}">
                <a16:creationId xmlns:a16="http://schemas.microsoft.com/office/drawing/2014/main" id="{89FFAED1-E51C-5C97-0649-706D18A86282}"/>
              </a:ext>
            </a:extLst>
          </p:cNvPr>
          <p:cNvSpPr txBox="1"/>
          <p:nvPr/>
        </p:nvSpPr>
        <p:spPr>
          <a:xfrm>
            <a:off x="4392113" y="1755704"/>
            <a:ext cx="3192909" cy="523220"/>
          </a:xfrm>
          <a:prstGeom prst="rect">
            <a:avLst/>
          </a:prstGeom>
          <a:noFill/>
        </p:spPr>
        <p:txBody>
          <a:bodyPr wrap="square" rtlCol="0">
            <a:spAutoFit/>
          </a:bodyPr>
          <a:lstStyle/>
          <a:p>
            <a:r>
              <a:rPr lang="en-US" sz="2800" u="sng" dirty="0">
                <a:solidFill>
                  <a:schemeClr val="accent5">
                    <a:lumMod val="75000"/>
                  </a:schemeClr>
                </a:solidFill>
                <a:latin typeface="Algerian" panose="04020705040A02060702" pitchFamily="82" charset="0"/>
              </a:rPr>
              <a:t>Urban Sector</a:t>
            </a:r>
          </a:p>
        </p:txBody>
      </p:sp>
      <p:graphicFrame>
        <p:nvGraphicFramePr>
          <p:cNvPr id="10" name="Chart 9">
            <a:extLst>
              <a:ext uri="{FF2B5EF4-FFF2-40B4-BE49-F238E27FC236}">
                <a16:creationId xmlns:a16="http://schemas.microsoft.com/office/drawing/2014/main" id="{BC563FC3-AAA1-43A1-9E54-5F6F6AD75828}"/>
              </a:ext>
            </a:extLst>
          </p:cNvPr>
          <p:cNvGraphicFramePr>
            <a:graphicFrameLocks/>
          </p:cNvGraphicFramePr>
          <p:nvPr>
            <p:extLst>
              <p:ext uri="{D42A27DB-BD31-4B8C-83A1-F6EECF244321}">
                <p14:modId xmlns:p14="http://schemas.microsoft.com/office/powerpoint/2010/main" val="983016273"/>
              </p:ext>
            </p:extLst>
          </p:nvPr>
        </p:nvGraphicFramePr>
        <p:xfrm>
          <a:off x="3282847" y="2374924"/>
          <a:ext cx="8879173" cy="4468085"/>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2">
            <a:extLst>
              <a:ext uri="{FF2B5EF4-FFF2-40B4-BE49-F238E27FC236}">
                <a16:creationId xmlns:a16="http://schemas.microsoft.com/office/drawing/2014/main" id="{85C8C6DB-BE54-F85A-F805-31A88154C720}"/>
              </a:ext>
            </a:extLst>
          </p:cNvPr>
          <p:cNvSpPr txBox="1"/>
          <p:nvPr/>
        </p:nvSpPr>
        <p:spPr>
          <a:xfrm>
            <a:off x="44970" y="2374924"/>
            <a:ext cx="3192909" cy="4438106"/>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b="1" u="sng" dirty="0"/>
              <a:t>Month-On-Month Inflation</a:t>
            </a:r>
            <a:r>
              <a:rPr lang="en-US" sz="1400" b="1" u="sng" baseline="0" dirty="0"/>
              <a:t> for Food Basket Of Urban Sector</a:t>
            </a:r>
          </a:p>
          <a:p>
            <a:pPr algn="l"/>
            <a:endParaRPr lang="en-US" sz="1400" b="1" baseline="0" dirty="0">
              <a:latin typeface="Bodoni MT Black" panose="02070A03080606020203" pitchFamily="18" charset="0"/>
              <a:ea typeface="Yu Gothic Light" panose="020B0300000000000000" pitchFamily="34" charset="-128"/>
            </a:endParaRPr>
          </a:p>
          <a:p>
            <a:pPr algn="l"/>
            <a:r>
              <a:rPr lang="en-US" sz="1400" b="1" baseline="0" dirty="0">
                <a:latin typeface="Bodoni MT Black" panose="02070A03080606020203" pitchFamily="18" charset="0"/>
                <a:ea typeface="Yu Gothic Light" panose="020B0300000000000000" pitchFamily="34" charset="-128"/>
              </a:rPr>
              <a:t>Key Observations:-</a:t>
            </a:r>
            <a:r>
              <a:rPr lang="en-US" sz="1400" baseline="0" dirty="0"/>
              <a:t>  </a:t>
            </a:r>
          </a:p>
          <a:p>
            <a:pPr marL="171450" indent="-171450" algn="l">
              <a:buFont typeface="Arial" panose="020B0604020202020204" pitchFamily="34" charset="0"/>
              <a:buChar char="•"/>
            </a:pPr>
            <a:r>
              <a:rPr lang="en-US" sz="1400" baseline="0" dirty="0"/>
              <a:t>Urban inflation has not been consistent over the period of time.</a:t>
            </a:r>
          </a:p>
          <a:p>
            <a:pPr marL="171450" indent="-171450" algn="l">
              <a:buFont typeface="Arial" panose="020B0604020202020204" pitchFamily="34" charset="0"/>
              <a:buChar char="•"/>
            </a:pPr>
            <a:endParaRPr lang="en-US" sz="1400" dirty="0"/>
          </a:p>
          <a:p>
            <a:pPr marL="171450" indent="-171450" algn="l">
              <a:buFont typeface="Arial" panose="020B0604020202020204" pitchFamily="34" charset="0"/>
              <a:buChar char="•"/>
            </a:pPr>
            <a:r>
              <a:rPr lang="en-US" sz="1400" baseline="0" dirty="0"/>
              <a:t> it shows significant change, moving from positive to negative and back again.</a:t>
            </a:r>
            <a:r>
              <a:rPr lang="en-US" sz="1400" dirty="0"/>
              <a:t> </a:t>
            </a:r>
          </a:p>
          <a:p>
            <a:pPr marL="171450" indent="-171450" algn="l">
              <a:buFont typeface="Arial" panose="020B0604020202020204" pitchFamily="34" charset="0"/>
              <a:buChar char="•"/>
            </a:pPr>
            <a:endParaRPr lang="en-US" sz="1400" dirty="0"/>
          </a:p>
          <a:p>
            <a:pPr marL="171450" indent="-171450" algn="l">
              <a:buFont typeface="Arial" panose="020B0604020202020204" pitchFamily="34" charset="0"/>
              <a:buChar char="•"/>
            </a:pPr>
            <a:r>
              <a:rPr lang="en-US" sz="1400" dirty="0"/>
              <a:t>June 2022</a:t>
            </a:r>
            <a:r>
              <a:rPr lang="en-US" sz="1400" baseline="0" dirty="0"/>
              <a:t> hit the highest point </a:t>
            </a:r>
            <a:r>
              <a:rPr lang="en-US" sz="1400" b="1" dirty="0"/>
              <a:t>1.1</a:t>
            </a:r>
            <a:r>
              <a:rPr lang="en-US" sz="1400" b="1" baseline="0" dirty="0"/>
              <a:t>%</a:t>
            </a:r>
            <a:r>
              <a:rPr lang="en-US" sz="1400" baseline="0" dirty="0"/>
              <a:t> in the entire period</a:t>
            </a:r>
            <a:r>
              <a:rPr lang="en-US" sz="1400" dirty="0"/>
              <a:t>.</a:t>
            </a:r>
          </a:p>
          <a:p>
            <a:pPr marL="171450" indent="-171450" algn="l">
              <a:buFont typeface="Arial" panose="020B0604020202020204" pitchFamily="34" charset="0"/>
              <a:buChar char="•"/>
            </a:pPr>
            <a:endParaRPr lang="en-US" sz="1400" dirty="0"/>
          </a:p>
          <a:p>
            <a:pPr marL="171450" indent="-171450" algn="l">
              <a:buFont typeface="Arial" panose="020B0604020202020204" pitchFamily="34" charset="0"/>
              <a:buChar char="•"/>
            </a:pPr>
            <a:r>
              <a:rPr lang="en-US" sz="1400" dirty="0"/>
              <a:t>D</a:t>
            </a:r>
            <a:r>
              <a:rPr lang="en-US" sz="1400" baseline="0" dirty="0"/>
              <a:t>ecember 2022 shows the significant deflation at</a:t>
            </a:r>
            <a:r>
              <a:rPr lang="en-US" sz="1400" b="1" baseline="0" dirty="0"/>
              <a:t> 0.8%</a:t>
            </a:r>
            <a:r>
              <a:rPr lang="en-US" sz="1400" baseline="0" dirty="0"/>
              <a:t> the lowest point in this period.</a:t>
            </a:r>
          </a:p>
          <a:p>
            <a:pPr marL="171450" indent="-171450" algn="l">
              <a:buFont typeface="Arial" panose="020B0604020202020204" pitchFamily="34" charset="0"/>
              <a:buChar char="•"/>
            </a:pPr>
            <a:r>
              <a:rPr lang="en-US" sz="1400" b="1" baseline="0" dirty="0"/>
              <a:t>0.0%</a:t>
            </a:r>
            <a:r>
              <a:rPr lang="en-US" sz="1400" baseline="0" dirty="0"/>
              <a:t> Represent no change in inflation</a:t>
            </a:r>
            <a:endParaRPr lang="en-US" sz="1400" dirty="0"/>
          </a:p>
        </p:txBody>
      </p:sp>
    </p:spTree>
    <p:extLst>
      <p:ext uri="{BB962C8B-B14F-4D97-AF65-F5344CB8AC3E}">
        <p14:creationId xmlns:p14="http://schemas.microsoft.com/office/powerpoint/2010/main" val="328266853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C547317B-A03C-477D-DD71-1C9A44456F37}"/>
              </a:ext>
            </a:extLst>
          </p:cNvPr>
          <p:cNvGraphicFramePr>
            <a:graphicFrameLocks/>
          </p:cNvGraphicFramePr>
          <p:nvPr>
            <p:extLst>
              <p:ext uri="{D42A27DB-BD31-4B8C-83A1-F6EECF244321}">
                <p14:modId xmlns:p14="http://schemas.microsoft.com/office/powerpoint/2010/main" val="50539494"/>
              </p:ext>
            </p:extLst>
          </p:nvPr>
        </p:nvGraphicFramePr>
        <p:xfrm>
          <a:off x="4325257" y="254830"/>
          <a:ext cx="7866743" cy="6603169"/>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13">
            <a:extLst>
              <a:ext uri="{FF2B5EF4-FFF2-40B4-BE49-F238E27FC236}">
                <a16:creationId xmlns:a16="http://schemas.microsoft.com/office/drawing/2014/main" id="{D2F67494-E1B8-8CB2-2C8A-E765213AD0D9}"/>
              </a:ext>
            </a:extLst>
          </p:cNvPr>
          <p:cNvSpPr txBox="1"/>
          <p:nvPr/>
        </p:nvSpPr>
        <p:spPr>
          <a:xfrm>
            <a:off x="59959" y="254829"/>
            <a:ext cx="4197247" cy="6543211"/>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800" b="1" u="none" dirty="0"/>
              <a:t>{#}  </a:t>
            </a:r>
            <a:r>
              <a:rPr lang="en-US" sz="1800" b="1" u="sng" dirty="0"/>
              <a:t>Contribution of sub</a:t>
            </a:r>
            <a:r>
              <a:rPr lang="en-US" sz="1800" b="1" u="sng" baseline="0" dirty="0"/>
              <a:t> category under food basket for Urban Sector</a:t>
            </a:r>
          </a:p>
          <a:p>
            <a:endParaRPr lang="en-US" sz="1800" b="1" u="sng" baseline="0" dirty="0"/>
          </a:p>
          <a:p>
            <a:pPr marL="285750" indent="-285750">
              <a:buFont typeface="Arial" panose="020B0604020202020204" pitchFamily="34" charset="0"/>
              <a:buChar char="•"/>
            </a:pPr>
            <a:r>
              <a:rPr lang="en-US" sz="1800" dirty="0"/>
              <a:t>The food basket is quite diverse, with various categories contributing to the overall expenditure</a:t>
            </a:r>
            <a:r>
              <a:rPr lang="en-US" sz="1800" baseline="0" dirty="0"/>
              <a:t> </a:t>
            </a:r>
          </a:p>
          <a:p>
            <a:endParaRPr lang="en-US" sz="1800" baseline="0" dirty="0"/>
          </a:p>
          <a:p>
            <a:pPr marL="285750" indent="-285750">
              <a:buFont typeface="Arial" panose="020B0604020202020204" pitchFamily="34" charset="0"/>
              <a:buChar char="•"/>
            </a:pPr>
            <a:r>
              <a:rPr lang="en-US" sz="1800" dirty="0"/>
              <a:t>The urban food basket shows a </a:t>
            </a:r>
            <a:r>
              <a:rPr lang="en-US" sz="1800" b="1" dirty="0"/>
              <a:t>diverse consumption pattern</a:t>
            </a:r>
            <a:r>
              <a:rPr lang="en-US" sz="1800" dirty="0"/>
              <a:t>, with </a:t>
            </a:r>
            <a:r>
              <a:rPr lang="en-US" sz="1800" b="1" dirty="0"/>
              <a:t>Spices (18%)</a:t>
            </a:r>
            <a:r>
              <a:rPr lang="en-US" sz="1800" dirty="0"/>
              <a:t>, </a:t>
            </a:r>
            <a:r>
              <a:rPr lang="en-US" sz="1800" b="1" dirty="0"/>
              <a:t>Oils &amp; Fats (15%)</a:t>
            </a:r>
            <a:r>
              <a:rPr lang="en-US" sz="1800" dirty="0"/>
              <a:t>, and </a:t>
            </a:r>
            <a:r>
              <a:rPr lang="en-US" sz="1800" b="1" dirty="0"/>
              <a:t>Vegetables (14%)</a:t>
            </a:r>
            <a:r>
              <a:rPr lang="en-US" sz="1800" dirty="0"/>
              <a:t> contributing nearly half of the share.</a:t>
            </a:r>
          </a:p>
          <a:p>
            <a:pPr marL="285750" indent="-285750">
              <a:buFont typeface="Arial" panose="020B0604020202020204" pitchFamily="34" charset="0"/>
              <a:buChar char="•"/>
            </a:pPr>
            <a:endParaRPr lang="en-US" sz="1800" dirty="0">
              <a:solidFill>
                <a:srgbClr val="3333FF"/>
              </a:solidFill>
            </a:endParaRPr>
          </a:p>
          <a:p>
            <a:pPr marL="285750" indent="-285750">
              <a:buFont typeface="Arial" panose="020B0604020202020204" pitchFamily="34" charset="0"/>
              <a:buChar char="•"/>
            </a:pPr>
            <a:r>
              <a:rPr lang="en-US" sz="1800" dirty="0">
                <a:solidFill>
                  <a:srgbClr val="3333FF"/>
                </a:solidFill>
              </a:rPr>
              <a:t>This data could be useful for understanding urban consumption patterns, inflation analysis (especially food inflation), and policy-making related to food security or dietary recommendations.</a:t>
            </a:r>
            <a:endParaRPr lang="en-US" sz="1800" b="1" dirty="0">
              <a:solidFill>
                <a:srgbClr val="3333FF"/>
              </a:solidFill>
            </a:endParaRPr>
          </a:p>
        </p:txBody>
      </p:sp>
    </p:spTree>
    <p:extLst>
      <p:ext uri="{BB962C8B-B14F-4D97-AF65-F5344CB8AC3E}">
        <p14:creationId xmlns:p14="http://schemas.microsoft.com/office/powerpoint/2010/main" val="96088969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B59FE-3523-C02E-DFAD-A9EE5465C6F8}"/>
            </a:ext>
          </a:extLst>
        </p:cNvPr>
        <p:cNvGrpSpPr/>
        <p:nvPr/>
      </p:nvGrpSpPr>
      <p:grpSpPr>
        <a:xfrm>
          <a:off x="0" y="0"/>
          <a:ext cx="0" cy="0"/>
          <a:chOff x="0" y="0"/>
          <a:chExt cx="0" cy="0"/>
        </a:xfrm>
      </p:grpSpPr>
      <p:sp>
        <p:nvSpPr>
          <p:cNvPr id="4" name="TextBox 10">
            <a:extLst>
              <a:ext uri="{FF2B5EF4-FFF2-40B4-BE49-F238E27FC236}">
                <a16:creationId xmlns:a16="http://schemas.microsoft.com/office/drawing/2014/main" id="{5F4C98B3-A0BE-4160-A0BF-6EAA6B22DC5A}"/>
              </a:ext>
            </a:extLst>
          </p:cNvPr>
          <p:cNvSpPr txBox="1"/>
          <p:nvPr/>
        </p:nvSpPr>
        <p:spPr>
          <a:xfrm>
            <a:off x="137876" y="598823"/>
            <a:ext cx="11914215" cy="1769619"/>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600" b="1" u="sng" dirty="0"/>
              <a:t>Month-On-Month Inflation</a:t>
            </a:r>
            <a:r>
              <a:rPr lang="en-US" sz="1600" b="1" u="sng" baseline="0" dirty="0"/>
              <a:t> for Food Basket Of Rural Sector</a:t>
            </a:r>
          </a:p>
          <a:p>
            <a:pPr algn="l"/>
            <a:endParaRPr lang="en-US" sz="1600" b="1" baseline="0" dirty="0">
              <a:latin typeface="Bodoni MT Black" panose="02070A03080606020203" pitchFamily="18" charset="0"/>
              <a:ea typeface="Yu Gothic Light" panose="020B0300000000000000" pitchFamily="34" charset="-128"/>
            </a:endParaRPr>
          </a:p>
          <a:p>
            <a:pPr algn="l"/>
            <a:r>
              <a:rPr lang="en-US" sz="1600" b="1" baseline="0" dirty="0">
                <a:latin typeface="Bodoni MT Black" panose="02070A03080606020203" pitchFamily="18" charset="0"/>
                <a:ea typeface="Yu Gothic Light" panose="020B0300000000000000" pitchFamily="34" charset="-128"/>
              </a:rPr>
              <a:t>Key Observations:-</a:t>
            </a:r>
            <a:r>
              <a:rPr lang="en-US" sz="1600" baseline="0" dirty="0"/>
              <a:t>  * </a:t>
            </a:r>
            <a:r>
              <a:rPr lang="en-US" sz="1600" dirty="0"/>
              <a:t>Similar to the urban sector, rural MOM inflation shows significant fluctuations, moving between positive</a:t>
            </a:r>
            <a:r>
              <a:rPr lang="en-US" sz="1600" baseline="0" dirty="0"/>
              <a:t>, </a:t>
            </a:r>
          </a:p>
          <a:p>
            <a:pPr algn="l"/>
            <a:r>
              <a:rPr lang="en-US" sz="1600" baseline="0" dirty="0"/>
              <a:t>                                               negative, and zero value throughout the period.</a:t>
            </a:r>
          </a:p>
          <a:p>
            <a:pPr algn="l"/>
            <a:r>
              <a:rPr lang="en-US" sz="1600" dirty="0"/>
              <a:t>                                    *</a:t>
            </a:r>
            <a:r>
              <a:rPr lang="en-US" sz="1600" baseline="0" dirty="0"/>
              <a:t> </a:t>
            </a:r>
            <a:r>
              <a:rPr lang="en-US" sz="1600" dirty="0"/>
              <a:t>June</a:t>
            </a:r>
            <a:r>
              <a:rPr lang="en-US" sz="1600" baseline="0" dirty="0"/>
              <a:t> 2022 hit the highest point </a:t>
            </a:r>
            <a:r>
              <a:rPr lang="en-US" sz="1600" b="1" dirty="0"/>
              <a:t>1</a:t>
            </a:r>
            <a:r>
              <a:rPr lang="en-US" sz="1600" b="1" baseline="0" dirty="0"/>
              <a:t>%</a:t>
            </a:r>
            <a:r>
              <a:rPr lang="en-US" sz="1600" baseline="0" dirty="0"/>
              <a:t> in the entire period.</a:t>
            </a:r>
          </a:p>
          <a:p>
            <a:pPr algn="l"/>
            <a:r>
              <a:rPr lang="en-US" sz="1600" baseline="0" dirty="0"/>
              <a:t>                                    * F</a:t>
            </a:r>
            <a:r>
              <a:rPr lang="en-US" sz="1600" dirty="0"/>
              <a:t>ebruary</a:t>
            </a:r>
            <a:r>
              <a:rPr lang="en-US" sz="1600" baseline="0" dirty="0"/>
              <a:t> 2023 shows the significant deflation at</a:t>
            </a:r>
            <a:r>
              <a:rPr lang="en-US" sz="1600" b="1" baseline="0" dirty="0"/>
              <a:t> 0.8%</a:t>
            </a:r>
            <a:r>
              <a:rPr lang="en-US" sz="1600" baseline="0" dirty="0"/>
              <a:t> the lowest point in this period.</a:t>
            </a:r>
          </a:p>
          <a:p>
            <a:pPr algn="l"/>
            <a:r>
              <a:rPr lang="en-US" sz="1600" dirty="0"/>
              <a:t> </a:t>
            </a:r>
            <a:r>
              <a:rPr lang="en-US" sz="1600" baseline="0" dirty="0"/>
              <a:t>   </a:t>
            </a:r>
            <a:r>
              <a:rPr lang="en-US" sz="1600" dirty="0"/>
              <a:t>                                *</a:t>
            </a:r>
            <a:r>
              <a:rPr lang="en-US" sz="1600" baseline="0" dirty="0"/>
              <a:t> </a:t>
            </a:r>
            <a:r>
              <a:rPr lang="en-US" sz="1600" b="1" baseline="0" dirty="0"/>
              <a:t>0.0%</a:t>
            </a:r>
            <a:r>
              <a:rPr lang="en-US" sz="1600" baseline="0" dirty="0"/>
              <a:t> Represent no change in inflation.</a:t>
            </a:r>
            <a:endParaRPr lang="en-US" sz="1600" dirty="0"/>
          </a:p>
        </p:txBody>
      </p:sp>
      <p:graphicFrame>
        <p:nvGraphicFramePr>
          <p:cNvPr id="2" name="Chart 1">
            <a:extLst>
              <a:ext uri="{FF2B5EF4-FFF2-40B4-BE49-F238E27FC236}">
                <a16:creationId xmlns:a16="http://schemas.microsoft.com/office/drawing/2014/main" id="{C2EB1E2E-C1BD-9D29-962D-9CEB3152EB33}"/>
              </a:ext>
            </a:extLst>
          </p:cNvPr>
          <p:cNvGraphicFramePr>
            <a:graphicFrameLocks/>
          </p:cNvGraphicFramePr>
          <p:nvPr>
            <p:extLst>
              <p:ext uri="{D42A27DB-BD31-4B8C-83A1-F6EECF244321}">
                <p14:modId xmlns:p14="http://schemas.microsoft.com/office/powerpoint/2010/main" val="403926329"/>
              </p:ext>
            </p:extLst>
          </p:nvPr>
        </p:nvGraphicFramePr>
        <p:xfrm>
          <a:off x="0" y="2398425"/>
          <a:ext cx="12192000" cy="4467303"/>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009AF32F-F970-9002-0FBE-08D8676021E6}"/>
              </a:ext>
            </a:extLst>
          </p:cNvPr>
          <p:cNvSpPr txBox="1"/>
          <p:nvPr/>
        </p:nvSpPr>
        <p:spPr>
          <a:xfrm>
            <a:off x="4512033" y="22368"/>
            <a:ext cx="2773184" cy="523220"/>
          </a:xfrm>
          <a:prstGeom prst="rect">
            <a:avLst/>
          </a:prstGeom>
          <a:noFill/>
        </p:spPr>
        <p:txBody>
          <a:bodyPr wrap="square" rtlCol="0">
            <a:spAutoFit/>
          </a:bodyPr>
          <a:lstStyle/>
          <a:p>
            <a:r>
              <a:rPr lang="en-US" sz="2800" u="sng" dirty="0">
                <a:solidFill>
                  <a:schemeClr val="accent5">
                    <a:lumMod val="75000"/>
                  </a:schemeClr>
                </a:solidFill>
                <a:latin typeface="Algerian" panose="04020705040A02060702" pitchFamily="82" charset="0"/>
              </a:rPr>
              <a:t>Rural Sector</a:t>
            </a:r>
          </a:p>
        </p:txBody>
      </p:sp>
    </p:spTree>
    <p:extLst>
      <p:ext uri="{BB962C8B-B14F-4D97-AF65-F5344CB8AC3E}">
        <p14:creationId xmlns:p14="http://schemas.microsoft.com/office/powerpoint/2010/main" val="274067379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4">
            <a:extLst>
              <a:ext uri="{FF2B5EF4-FFF2-40B4-BE49-F238E27FC236}">
                <a16:creationId xmlns:a16="http://schemas.microsoft.com/office/drawing/2014/main" id="{8131D5AC-52FD-473E-8669-029209CCC80E}"/>
              </a:ext>
            </a:extLst>
          </p:cNvPr>
          <p:cNvSpPr txBox="1"/>
          <p:nvPr/>
        </p:nvSpPr>
        <p:spPr>
          <a:xfrm>
            <a:off x="76035" y="194872"/>
            <a:ext cx="3566576" cy="659567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800" b="1" u="none" dirty="0"/>
              <a:t>{#}  </a:t>
            </a:r>
            <a:r>
              <a:rPr lang="en-US" sz="1800" b="1" u="sng" dirty="0"/>
              <a:t>Contribution of sub</a:t>
            </a:r>
            <a:r>
              <a:rPr lang="en-US" sz="1800" b="1" u="sng" baseline="0" dirty="0"/>
              <a:t> category under food basket for Rural Sector</a:t>
            </a:r>
          </a:p>
          <a:p>
            <a:endParaRPr lang="en-US" sz="1800" b="1" u="sng" baseline="0" dirty="0"/>
          </a:p>
          <a:p>
            <a:pPr marL="285750" indent="-285750">
              <a:buFont typeface="Arial" panose="020B0604020202020204" pitchFamily="34" charset="0"/>
              <a:buChar char="•"/>
            </a:pPr>
            <a:r>
              <a:rPr lang="en-US" sz="1800" dirty="0"/>
              <a:t>The food basket is quite diverse, with various categories contributing to the overall expenditure.</a:t>
            </a:r>
            <a:endParaRPr lang="en-US" sz="1800" baseline="0" dirty="0"/>
          </a:p>
          <a:p>
            <a:endParaRPr lang="en-US" sz="1800" baseline="0" dirty="0"/>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aseline="0" dirty="0"/>
              <a:t>The chart highlights </a:t>
            </a:r>
            <a:r>
              <a:rPr lang="en-US" sz="1800" dirty="0"/>
              <a:t>that Rural food expenditure is spread across many categories, with </a:t>
            </a:r>
            <a:r>
              <a:rPr lang="en-US" sz="1800" b="1" dirty="0"/>
              <a:t>Spices(19%) </a:t>
            </a:r>
            <a:r>
              <a:rPr lang="en-US" sz="1800" dirty="0"/>
              <a:t>being the highest contributor</a:t>
            </a:r>
            <a:r>
              <a:rPr lang="en-US" sz="1800" b="1" dirty="0"/>
              <a:t> </a:t>
            </a:r>
            <a:r>
              <a:rPr lang="en-US" sz="1800" dirty="0"/>
              <a:t>followed by </a:t>
            </a:r>
            <a:r>
              <a:rPr lang="en-US" sz="1800" b="1" dirty="0"/>
              <a:t>Oils and fat (18%)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b="1" dirty="0">
              <a:solidFill>
                <a:srgbClr val="3333FF"/>
              </a:solidFill>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solidFill>
                  <a:srgbClr val="3333FF"/>
                </a:solidFill>
              </a:rPr>
              <a:t>the food basket of the rural population provides valuable insights which can be crucial for economic analysis, agricultural policy, and understanding regional dietary habits.</a:t>
            </a:r>
            <a:endParaRPr lang="en-US" sz="1800" b="1" dirty="0">
              <a:solidFill>
                <a:srgbClr val="3333FF"/>
              </a:solidFill>
            </a:endParaRPr>
          </a:p>
        </p:txBody>
      </p:sp>
      <p:graphicFrame>
        <p:nvGraphicFramePr>
          <p:cNvPr id="2" name="Chart 1">
            <a:extLst>
              <a:ext uri="{FF2B5EF4-FFF2-40B4-BE49-F238E27FC236}">
                <a16:creationId xmlns:a16="http://schemas.microsoft.com/office/drawing/2014/main" id="{E5D8C14D-6125-48A4-8CF0-BE820F33BEF1}"/>
              </a:ext>
            </a:extLst>
          </p:cNvPr>
          <p:cNvGraphicFramePr>
            <a:graphicFrameLocks/>
          </p:cNvGraphicFramePr>
          <p:nvPr>
            <p:extLst>
              <p:ext uri="{D42A27DB-BD31-4B8C-83A1-F6EECF244321}">
                <p14:modId xmlns:p14="http://schemas.microsoft.com/office/powerpoint/2010/main" val="44725240"/>
              </p:ext>
            </p:extLst>
          </p:nvPr>
        </p:nvGraphicFramePr>
        <p:xfrm>
          <a:off x="3732551" y="194872"/>
          <a:ext cx="8459449" cy="666312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5465142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1">
            <a:extLst>
              <a:ext uri="{FF2B5EF4-FFF2-40B4-BE49-F238E27FC236}">
                <a16:creationId xmlns:a16="http://schemas.microsoft.com/office/drawing/2014/main" id="{6A375B0A-0A0E-C395-4C89-1274E8496DAF}"/>
              </a:ext>
            </a:extLst>
          </p:cNvPr>
          <p:cNvSpPr txBox="1"/>
          <p:nvPr/>
        </p:nvSpPr>
        <p:spPr>
          <a:xfrm>
            <a:off x="119922" y="685871"/>
            <a:ext cx="11917180" cy="1862451"/>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600" b="1" u="sng" dirty="0"/>
              <a:t>Month-On-Month Inflation</a:t>
            </a:r>
            <a:r>
              <a:rPr lang="en-US" sz="1600" b="1" u="sng" baseline="0" dirty="0"/>
              <a:t> for Food Basket Of Rural + Urban Sector</a:t>
            </a:r>
          </a:p>
          <a:p>
            <a:pPr algn="l"/>
            <a:endParaRPr lang="en-US" sz="1600" b="1" baseline="0" dirty="0">
              <a:latin typeface="Bodoni MT Black" panose="02070A03080606020203" pitchFamily="18" charset="0"/>
              <a:ea typeface="Yu Gothic Light" panose="020B0300000000000000" pitchFamily="34" charset="-128"/>
            </a:endParaRPr>
          </a:p>
          <a:p>
            <a:pPr algn="l"/>
            <a:r>
              <a:rPr lang="en-US" sz="1600" b="1" baseline="0" dirty="0">
                <a:latin typeface="Bodoni MT Black" panose="02070A03080606020203" pitchFamily="18" charset="0"/>
                <a:ea typeface="Yu Gothic Light" panose="020B0300000000000000" pitchFamily="34" charset="-128"/>
              </a:rPr>
              <a:t>Key Observations:-</a:t>
            </a:r>
            <a:r>
              <a:rPr lang="en-US" sz="1600" baseline="0" dirty="0"/>
              <a:t>  * </a:t>
            </a:r>
            <a:r>
              <a:rPr lang="en-US" sz="1600" dirty="0"/>
              <a:t>The combined R+U inflation experienced considerable fluctuations throughout the</a:t>
            </a:r>
            <a:r>
              <a:rPr lang="en-US" sz="1600" baseline="0" dirty="0"/>
              <a:t> period, ranging from</a:t>
            </a:r>
          </a:p>
          <a:p>
            <a:pPr algn="l"/>
            <a:r>
              <a:rPr lang="en-US" sz="1600" baseline="0" dirty="0"/>
              <a:t>                                                positive to negative values.</a:t>
            </a:r>
          </a:p>
          <a:p>
            <a:pPr algn="l"/>
            <a:r>
              <a:rPr lang="en-US" sz="1600" dirty="0"/>
              <a:t>                                    *</a:t>
            </a:r>
            <a:r>
              <a:rPr lang="en-US" sz="1600" baseline="0" dirty="0"/>
              <a:t> </a:t>
            </a:r>
            <a:r>
              <a:rPr lang="en-US" sz="1600" dirty="0"/>
              <a:t>June</a:t>
            </a:r>
            <a:r>
              <a:rPr lang="en-US" sz="1600" baseline="0" dirty="0"/>
              <a:t> 2022 hit the highest point </a:t>
            </a:r>
            <a:r>
              <a:rPr lang="en-US" sz="1600" b="1" dirty="0"/>
              <a:t>1</a:t>
            </a:r>
            <a:r>
              <a:rPr lang="en-US" sz="1600" b="1" baseline="0" dirty="0"/>
              <a:t>.3%</a:t>
            </a:r>
            <a:r>
              <a:rPr lang="en-US" sz="1600" baseline="0" dirty="0"/>
              <a:t> in the entire period.</a:t>
            </a:r>
          </a:p>
          <a:p>
            <a:pPr algn="l"/>
            <a:r>
              <a:rPr lang="en-US" sz="1600" baseline="0" dirty="0"/>
              <a:t>                                    * </a:t>
            </a:r>
            <a:r>
              <a:rPr lang="en-US" sz="1600" dirty="0"/>
              <a:t>December</a:t>
            </a:r>
            <a:r>
              <a:rPr lang="en-US" sz="1600" baseline="0" dirty="0"/>
              <a:t> 2022 &amp; </a:t>
            </a:r>
            <a:r>
              <a:rPr lang="en-US" sz="1600" dirty="0"/>
              <a:t>February</a:t>
            </a:r>
            <a:r>
              <a:rPr lang="en-US" sz="1600" baseline="0" dirty="0"/>
              <a:t> 2023 shows the significant deflation at</a:t>
            </a:r>
            <a:r>
              <a:rPr lang="en-US" sz="1600" b="1" baseline="0" dirty="0"/>
              <a:t> approx. 0.6%</a:t>
            </a:r>
            <a:r>
              <a:rPr lang="en-US" sz="1600" baseline="0" dirty="0"/>
              <a:t> the lowest point in this period.</a:t>
            </a:r>
          </a:p>
          <a:p>
            <a:pPr algn="l"/>
            <a:r>
              <a:rPr lang="en-US" sz="1600" dirty="0"/>
              <a:t> </a:t>
            </a:r>
            <a:r>
              <a:rPr lang="en-US" sz="1600" baseline="0" dirty="0"/>
              <a:t>   </a:t>
            </a:r>
            <a:r>
              <a:rPr lang="en-US" sz="1600" dirty="0"/>
              <a:t>                                *</a:t>
            </a:r>
            <a:r>
              <a:rPr lang="en-US" sz="1600" baseline="0" dirty="0"/>
              <a:t> </a:t>
            </a:r>
            <a:r>
              <a:rPr lang="en-US" sz="1600" b="1" baseline="0" dirty="0"/>
              <a:t>0.0%</a:t>
            </a:r>
            <a:r>
              <a:rPr lang="en-US" sz="1600" baseline="0" dirty="0"/>
              <a:t> Represent no change in inflation.</a:t>
            </a:r>
            <a:endParaRPr lang="en-US" sz="1600" dirty="0"/>
          </a:p>
        </p:txBody>
      </p:sp>
      <p:graphicFrame>
        <p:nvGraphicFramePr>
          <p:cNvPr id="2" name="Chart 1">
            <a:extLst>
              <a:ext uri="{FF2B5EF4-FFF2-40B4-BE49-F238E27FC236}">
                <a16:creationId xmlns:a16="http://schemas.microsoft.com/office/drawing/2014/main" id="{05D10E38-4274-4F8E-B038-FB302579ED28}"/>
              </a:ext>
            </a:extLst>
          </p:cNvPr>
          <p:cNvGraphicFramePr>
            <a:graphicFrameLocks/>
          </p:cNvGraphicFramePr>
          <p:nvPr>
            <p:extLst>
              <p:ext uri="{D42A27DB-BD31-4B8C-83A1-F6EECF244321}">
                <p14:modId xmlns:p14="http://schemas.microsoft.com/office/powerpoint/2010/main" val="3183110794"/>
              </p:ext>
            </p:extLst>
          </p:nvPr>
        </p:nvGraphicFramePr>
        <p:xfrm>
          <a:off x="0" y="2608289"/>
          <a:ext cx="12192000" cy="4260366"/>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CCB7E0E9-88A7-42A0-28B8-0DCE961EF35C}"/>
              </a:ext>
            </a:extLst>
          </p:cNvPr>
          <p:cNvSpPr txBox="1"/>
          <p:nvPr/>
        </p:nvSpPr>
        <p:spPr>
          <a:xfrm>
            <a:off x="4691911" y="97326"/>
            <a:ext cx="2473381" cy="523220"/>
          </a:xfrm>
          <a:prstGeom prst="rect">
            <a:avLst/>
          </a:prstGeom>
          <a:noFill/>
        </p:spPr>
        <p:txBody>
          <a:bodyPr wrap="square" rtlCol="0">
            <a:spAutoFit/>
          </a:bodyPr>
          <a:lstStyle/>
          <a:p>
            <a:r>
              <a:rPr lang="en-US" sz="2800" u="sng" dirty="0">
                <a:solidFill>
                  <a:schemeClr val="accent5">
                    <a:lumMod val="75000"/>
                  </a:schemeClr>
                </a:solidFill>
                <a:latin typeface="Algerian" panose="04020705040A02060702" pitchFamily="82" charset="0"/>
              </a:rPr>
              <a:t>R + U Sector</a:t>
            </a:r>
          </a:p>
        </p:txBody>
      </p:sp>
    </p:spTree>
    <p:extLst>
      <p:ext uri="{BB962C8B-B14F-4D97-AF65-F5344CB8AC3E}">
        <p14:creationId xmlns:p14="http://schemas.microsoft.com/office/powerpoint/2010/main" val="93221686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5">
            <a:extLst>
              <a:ext uri="{FF2B5EF4-FFF2-40B4-BE49-F238E27FC236}">
                <a16:creationId xmlns:a16="http://schemas.microsoft.com/office/drawing/2014/main" id="{25CD36C1-D8E8-0F77-159B-D1A591C323AF}"/>
              </a:ext>
            </a:extLst>
          </p:cNvPr>
          <p:cNvSpPr txBox="1"/>
          <p:nvPr/>
        </p:nvSpPr>
        <p:spPr>
          <a:xfrm>
            <a:off x="82064" y="224852"/>
            <a:ext cx="4023148" cy="6567376"/>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800" b="1" u="none" dirty="0"/>
              <a:t>{#}  </a:t>
            </a:r>
            <a:r>
              <a:rPr lang="en-US" sz="1800" b="1" u="sng" dirty="0"/>
              <a:t>Contribution of sub</a:t>
            </a:r>
            <a:r>
              <a:rPr lang="en-US" sz="1800" b="1" u="sng" baseline="0" dirty="0"/>
              <a:t> category under food basket for R + U Sector</a:t>
            </a:r>
          </a:p>
          <a:p>
            <a:endParaRPr lang="en-US" sz="1800" b="1" u="sng" baseline="0" dirty="0"/>
          </a:p>
          <a:p>
            <a:pPr marL="285750" indent="-285750">
              <a:buFont typeface="Arial" panose="020B0604020202020204" pitchFamily="34" charset="0"/>
              <a:buChar char="•"/>
            </a:pPr>
            <a:r>
              <a:rPr lang="en-US" sz="1800" dirty="0"/>
              <a:t>The chart clearly shows that the combined rural and urban food basket is highly diversified. This indicates a broad range of food items being consumed across both sectors.</a:t>
            </a:r>
          </a:p>
          <a:p>
            <a:pPr marL="285750" indent="-285750">
              <a:buFont typeface="Arial" panose="020B0604020202020204" pitchFamily="34" charset="0"/>
              <a:buChar char="•"/>
            </a:pPr>
            <a:endParaRPr lang="en-US" sz="1800" baseline="0" dirty="0"/>
          </a:p>
          <a:p>
            <a:pPr marL="285750" indent="-285750">
              <a:buFont typeface="Arial" panose="020B0604020202020204" pitchFamily="34" charset="0"/>
              <a:buChar char="•"/>
            </a:pPr>
            <a:r>
              <a:rPr lang="en-US" sz="1800" baseline="0" dirty="0"/>
              <a:t>The chart highlights </a:t>
            </a:r>
            <a:r>
              <a:rPr lang="en-US" sz="1800" dirty="0"/>
              <a:t>that </a:t>
            </a:r>
            <a:r>
              <a:rPr lang="en-US" sz="1800" b="1" dirty="0"/>
              <a:t>R</a:t>
            </a:r>
            <a:r>
              <a:rPr lang="en-US" sz="1800" b="1" baseline="0" dirty="0"/>
              <a:t> + U</a:t>
            </a:r>
            <a:r>
              <a:rPr lang="en-US" sz="1800" dirty="0"/>
              <a:t> food expenditure is spread across many categories, with</a:t>
            </a:r>
            <a:r>
              <a:rPr lang="en-US" sz="1800" b="1" baseline="0" dirty="0">
                <a:solidFill>
                  <a:schemeClr val="dk1"/>
                </a:solidFill>
                <a:effectLst/>
                <a:latin typeface="+mn-lt"/>
                <a:ea typeface="+mn-ea"/>
                <a:cs typeface="+mn-cs"/>
              </a:rPr>
              <a:t> spices(18%) and Oil and Fats (17%)</a:t>
            </a:r>
            <a:r>
              <a:rPr lang="en-US" sz="1800" dirty="0"/>
              <a:t>being the largest contributor.</a:t>
            </a:r>
            <a:endParaRPr lang="en-US" sz="1800" b="1" dirty="0"/>
          </a:p>
          <a:p>
            <a:pPr marL="285750" indent="-285750">
              <a:buFont typeface="Arial" panose="020B0604020202020204" pitchFamily="34" charset="0"/>
              <a:buChar char="•"/>
            </a:pPr>
            <a:endParaRPr lang="en-US" sz="1800" b="1" dirty="0">
              <a:solidFill>
                <a:srgbClr val="3333FF"/>
              </a:solidFill>
            </a:endParaRPr>
          </a:p>
          <a:p>
            <a:pPr marL="285750" indent="-285750">
              <a:buFont typeface="Arial" panose="020B0604020202020204" pitchFamily="34" charset="0"/>
              <a:buChar char="•"/>
            </a:pPr>
            <a:r>
              <a:rPr lang="en-US" sz="1800" b="1" dirty="0">
                <a:solidFill>
                  <a:srgbClr val="3333FF"/>
                </a:solidFill>
              </a:rPr>
              <a:t>This combined R+U chart provides a comprehensive overview of the national food consumption patterns. This data is vital for national-level policy formulation related to food security, public health, agricultural planning, and market analysis for food industries.</a:t>
            </a:r>
          </a:p>
        </p:txBody>
      </p:sp>
      <p:graphicFrame>
        <p:nvGraphicFramePr>
          <p:cNvPr id="3" name="Chart 2">
            <a:extLst>
              <a:ext uri="{FF2B5EF4-FFF2-40B4-BE49-F238E27FC236}">
                <a16:creationId xmlns:a16="http://schemas.microsoft.com/office/drawing/2014/main" id="{8A38E369-8749-3F17-03E9-A852C0EA4AA2}"/>
              </a:ext>
            </a:extLst>
          </p:cNvPr>
          <p:cNvGraphicFramePr>
            <a:graphicFrameLocks/>
          </p:cNvGraphicFramePr>
          <p:nvPr>
            <p:extLst>
              <p:ext uri="{D42A27DB-BD31-4B8C-83A1-F6EECF244321}">
                <p14:modId xmlns:p14="http://schemas.microsoft.com/office/powerpoint/2010/main" val="1246762116"/>
              </p:ext>
            </p:extLst>
          </p:nvPr>
        </p:nvGraphicFramePr>
        <p:xfrm>
          <a:off x="4229609" y="224852"/>
          <a:ext cx="7962391" cy="662733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5467902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8CBDF22-5BEB-DDD5-A1C0-1AF073C452B7}"/>
              </a:ext>
            </a:extLst>
          </p:cNvPr>
          <p:cNvSpPr txBox="1">
            <a:spLocks/>
          </p:cNvSpPr>
          <p:nvPr/>
        </p:nvSpPr>
        <p:spPr>
          <a:xfrm>
            <a:off x="4062334" y="216342"/>
            <a:ext cx="4067331" cy="569626"/>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en-US" sz="2800" dirty="0">
                <a:latin typeface="Berlin Sans FB" panose="020E0602020502020306" pitchFamily="34" charset="0"/>
              </a:rPr>
              <a:t>Problem Statement :- 4 </a:t>
            </a:r>
          </a:p>
        </p:txBody>
      </p:sp>
      <p:sp>
        <p:nvSpPr>
          <p:cNvPr id="5" name="TextBox 4">
            <a:extLst>
              <a:ext uri="{FF2B5EF4-FFF2-40B4-BE49-F238E27FC236}">
                <a16:creationId xmlns:a16="http://schemas.microsoft.com/office/drawing/2014/main" id="{FC5F15CA-4639-97C2-FB61-8450275E15C1}"/>
              </a:ext>
            </a:extLst>
          </p:cNvPr>
          <p:cNvSpPr txBox="1"/>
          <p:nvPr/>
        </p:nvSpPr>
        <p:spPr>
          <a:xfrm>
            <a:off x="377370" y="726008"/>
            <a:ext cx="11567885" cy="707886"/>
          </a:xfrm>
          <a:prstGeom prst="rect">
            <a:avLst/>
          </a:prstGeom>
          <a:noFill/>
        </p:spPr>
        <p:txBody>
          <a:bodyPr wrap="square" rtlCol="0">
            <a:spAutoFit/>
          </a:bodyPr>
          <a:lstStyle/>
          <a:p>
            <a:r>
              <a:rPr lang="en-US" sz="2000" b="1" dirty="0">
                <a:latin typeface="Castellar" panose="020A0402060406010301" pitchFamily="18" charset="0"/>
              </a:rPr>
              <a:t>Investigating how the onset of COVID-19 had an impact on inflation rates in India and compare trend before and after March 2020.</a:t>
            </a:r>
          </a:p>
        </p:txBody>
      </p:sp>
      <p:sp>
        <p:nvSpPr>
          <p:cNvPr id="6" name="TextBox 11">
            <a:extLst>
              <a:ext uri="{FF2B5EF4-FFF2-40B4-BE49-F238E27FC236}">
                <a16:creationId xmlns:a16="http://schemas.microsoft.com/office/drawing/2014/main" id="{291459EF-EC9D-4657-B297-8999C0479DFC}"/>
              </a:ext>
            </a:extLst>
          </p:cNvPr>
          <p:cNvSpPr txBox="1"/>
          <p:nvPr/>
        </p:nvSpPr>
        <p:spPr>
          <a:xfrm>
            <a:off x="246743" y="1496207"/>
            <a:ext cx="11567885" cy="388526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b="1" dirty="0"/>
              <a:t>Understanding the Inflation Trends before and after</a:t>
            </a:r>
            <a:r>
              <a:rPr lang="en-US" sz="1400" b="1" baseline="0" dirty="0"/>
              <a:t> </a:t>
            </a:r>
            <a:r>
              <a:rPr lang="en-US" sz="1400" b="1" dirty="0"/>
              <a:t>March</a:t>
            </a:r>
            <a:r>
              <a:rPr lang="en-US" sz="1400" b="1" baseline="0" dirty="0"/>
              <a:t> 2020 for Urban Sector</a:t>
            </a:r>
          </a:p>
          <a:p>
            <a:pPr algn="l"/>
            <a:r>
              <a:rPr lang="en-US" sz="1400" b="1" baseline="0" dirty="0"/>
              <a:t>Key Insights:-                            Before                                                                                                                           After </a:t>
            </a:r>
          </a:p>
          <a:p>
            <a:pPr algn="l"/>
            <a:r>
              <a:rPr lang="en-US" sz="1400" b="1" baseline="0" dirty="0"/>
              <a:t> </a:t>
            </a:r>
            <a:endParaRPr lang="en-US" sz="1400" b="1" dirty="0"/>
          </a:p>
        </p:txBody>
      </p:sp>
      <p:sp>
        <p:nvSpPr>
          <p:cNvPr id="7" name="TextBox 13">
            <a:extLst>
              <a:ext uri="{FF2B5EF4-FFF2-40B4-BE49-F238E27FC236}">
                <a16:creationId xmlns:a16="http://schemas.microsoft.com/office/drawing/2014/main" id="{77740EC2-64D6-4D33-9E82-876819AF9479}"/>
              </a:ext>
            </a:extLst>
          </p:cNvPr>
          <p:cNvSpPr txBox="1"/>
          <p:nvPr/>
        </p:nvSpPr>
        <p:spPr>
          <a:xfrm>
            <a:off x="6142216" y="2029454"/>
            <a:ext cx="5512755" cy="1956177"/>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400" dirty="0"/>
              <a:t>*The most striking observation post-2020 is the extraordinary surge in </a:t>
            </a:r>
            <a:r>
              <a:rPr lang="en-US" sz="1400" b="1" dirty="0"/>
              <a:t>Fuel and light</a:t>
            </a:r>
            <a:r>
              <a:rPr lang="en-US" sz="1400" dirty="0"/>
              <a:t> inflation, which was 6.1% in 2020-21 and then skyrocketed to an alarming </a:t>
            </a:r>
            <a:r>
              <a:rPr lang="en-US" sz="1400" b="1" dirty="0"/>
              <a:t>15.0% in 2021-22</a:t>
            </a:r>
            <a:r>
              <a:rPr lang="en-US" sz="1400" dirty="0"/>
              <a:t>. This indicates that energy costs became the dominant inflationary pressure in the urban sector after 2020.</a:t>
            </a:r>
          </a:p>
          <a:p>
            <a:r>
              <a:rPr lang="en-US" sz="1400" dirty="0"/>
              <a:t>* Sustained High Food Inflation, but Moderating ,Sharp drop in Pan, Tobacco and Intoxicants. </a:t>
            </a:r>
            <a:r>
              <a:rPr lang="en-US" sz="1400" b="1" dirty="0"/>
              <a:t>Clothing and footwear, Housing, and Education</a:t>
            </a:r>
            <a:r>
              <a:rPr lang="en-US" sz="1400" dirty="0"/>
              <a:t> saw decreases in inflation.</a:t>
            </a:r>
          </a:p>
          <a:p>
            <a:r>
              <a:rPr lang="en-US" sz="1400" dirty="0"/>
              <a:t>                                              </a:t>
            </a:r>
          </a:p>
        </p:txBody>
      </p:sp>
      <p:sp>
        <p:nvSpPr>
          <p:cNvPr id="8" name="TextBox 12">
            <a:extLst>
              <a:ext uri="{FF2B5EF4-FFF2-40B4-BE49-F238E27FC236}">
                <a16:creationId xmlns:a16="http://schemas.microsoft.com/office/drawing/2014/main" id="{2283775E-7B70-45D1-8AFD-E4F8075824EB}"/>
              </a:ext>
            </a:extLst>
          </p:cNvPr>
          <p:cNvSpPr txBox="1"/>
          <p:nvPr/>
        </p:nvSpPr>
        <p:spPr>
          <a:xfrm>
            <a:off x="377372" y="2029454"/>
            <a:ext cx="5512755" cy="1956178"/>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400" dirty="0"/>
              <a:t>* The most prominent feature is the dramatic rise in </a:t>
            </a:r>
            <a:r>
              <a:rPr lang="en-US" sz="1400" b="1" dirty="0"/>
              <a:t>Food and beverages</a:t>
            </a:r>
            <a:r>
              <a:rPr lang="en-US" sz="1400" dirty="0"/>
              <a:t> inflation, jumping from a mere </a:t>
            </a:r>
            <a:r>
              <a:rPr lang="en-US" sz="1400" b="1" dirty="0"/>
              <a:t>0.7% in 2018-19</a:t>
            </a:r>
            <a:r>
              <a:rPr lang="en-US" sz="1400" dirty="0"/>
              <a:t> to a high of </a:t>
            </a:r>
            <a:r>
              <a:rPr lang="en-US" sz="1400" b="1" dirty="0"/>
              <a:t>8.6% in 2019-20</a:t>
            </a:r>
            <a:r>
              <a:rPr lang="en-US" sz="1400" dirty="0"/>
              <a:t>. This indicates that food prices were a major driver of inflation just before the pandemic.</a:t>
            </a:r>
          </a:p>
          <a:p>
            <a:r>
              <a:rPr lang="en-US" sz="1400" dirty="0"/>
              <a:t>*</a:t>
            </a:r>
            <a:r>
              <a:rPr lang="en-US" sz="1400" baseline="0" dirty="0"/>
              <a:t> </a:t>
            </a:r>
            <a:r>
              <a:rPr lang="en-US" sz="1400" dirty="0"/>
              <a:t>Mixed Trends in Other Categories:-</a:t>
            </a:r>
            <a:r>
              <a:rPr lang="en-US" sz="1400" baseline="0" dirty="0"/>
              <a:t> </a:t>
            </a:r>
            <a:r>
              <a:rPr lang="en-US" sz="1400" b="1" dirty="0"/>
              <a:t>Housing, Health, and Education</a:t>
            </a:r>
            <a:r>
              <a:rPr lang="en-US" sz="1400" dirty="0"/>
              <a:t> saw increases in inflation. </a:t>
            </a:r>
            <a:r>
              <a:rPr lang="en-US" sz="1400" b="1" dirty="0"/>
              <a:t>Clothing and footwear, Fuel and light, and Pan, tobacco and intoxicants</a:t>
            </a:r>
            <a:r>
              <a:rPr lang="en-US" sz="1400" dirty="0"/>
              <a:t> experienced a notable </a:t>
            </a:r>
            <a:r>
              <a:rPr lang="en-US" sz="1400" i="1" dirty="0"/>
              <a:t>decrease</a:t>
            </a:r>
            <a:r>
              <a:rPr lang="en-US" sz="1400" dirty="0"/>
              <a:t> in inflation.</a:t>
            </a:r>
          </a:p>
          <a:p>
            <a:endParaRPr lang="en-US" sz="1400" dirty="0"/>
          </a:p>
        </p:txBody>
      </p:sp>
      <p:sp>
        <p:nvSpPr>
          <p:cNvPr id="9" name="TextBox 14">
            <a:extLst>
              <a:ext uri="{FF2B5EF4-FFF2-40B4-BE49-F238E27FC236}">
                <a16:creationId xmlns:a16="http://schemas.microsoft.com/office/drawing/2014/main" id="{A89CB844-811F-452C-ACD3-EAF44458F5B3}"/>
              </a:ext>
            </a:extLst>
          </p:cNvPr>
          <p:cNvSpPr txBox="1"/>
          <p:nvPr/>
        </p:nvSpPr>
        <p:spPr>
          <a:xfrm rot="10800000" flipV="1">
            <a:off x="377371" y="4110236"/>
            <a:ext cx="11277599" cy="1146628"/>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600" b="1" dirty="0"/>
              <a:t>Reason -: </a:t>
            </a:r>
            <a:r>
              <a:rPr lang="en-US" sz="1600" dirty="0"/>
              <a:t>Before 2020, inflation in the urban sector was largely driven by food price volatility, while fuel inflation remained moderate. Post-2020, the trend shifted, with inflation becoming broad-based due to global supply chain disruptions, rising fuel costs, and pandemic-driven spikes in healthcare and services. This shows how domestic shocks gave way to global factors in shaping inflation.</a:t>
            </a:r>
            <a:endParaRPr lang="en-US" sz="1600" b="1" dirty="0"/>
          </a:p>
        </p:txBody>
      </p:sp>
    </p:spTree>
    <p:extLst>
      <p:ext uri="{BB962C8B-B14F-4D97-AF65-F5344CB8AC3E}">
        <p14:creationId xmlns:p14="http://schemas.microsoft.com/office/powerpoint/2010/main" val="191821603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790A5C92-CA50-2D50-C832-224B85BF8959}"/>
              </a:ext>
            </a:extLst>
          </p:cNvPr>
          <p:cNvGraphicFramePr>
            <a:graphicFrameLocks/>
          </p:cNvGraphicFramePr>
          <p:nvPr>
            <p:extLst>
              <p:ext uri="{D42A27DB-BD31-4B8C-83A1-F6EECF244321}">
                <p14:modId xmlns:p14="http://schemas.microsoft.com/office/powerpoint/2010/main" val="998775050"/>
              </p:ext>
            </p:extLst>
          </p:nvPr>
        </p:nvGraphicFramePr>
        <p:xfrm>
          <a:off x="74950" y="63324"/>
          <a:ext cx="6021050" cy="673471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021E94A1-EA36-B319-358C-C5083BF47C57}"/>
              </a:ext>
            </a:extLst>
          </p:cNvPr>
          <p:cNvGraphicFramePr>
            <a:graphicFrameLocks/>
          </p:cNvGraphicFramePr>
          <p:nvPr>
            <p:extLst>
              <p:ext uri="{D42A27DB-BD31-4B8C-83A1-F6EECF244321}">
                <p14:modId xmlns:p14="http://schemas.microsoft.com/office/powerpoint/2010/main" val="879541586"/>
              </p:ext>
            </p:extLst>
          </p:nvPr>
        </p:nvGraphicFramePr>
        <p:xfrm>
          <a:off x="6220919" y="63323"/>
          <a:ext cx="5903248" cy="673471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1434028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5">
            <a:extLst>
              <a:ext uri="{FF2B5EF4-FFF2-40B4-BE49-F238E27FC236}">
                <a16:creationId xmlns:a16="http://schemas.microsoft.com/office/drawing/2014/main" id="{3B4D220B-20A9-4007-9CBC-B229CB5E8D18}"/>
              </a:ext>
            </a:extLst>
          </p:cNvPr>
          <p:cNvSpPr txBox="1"/>
          <p:nvPr/>
        </p:nvSpPr>
        <p:spPr>
          <a:xfrm>
            <a:off x="149902" y="140836"/>
            <a:ext cx="11812249" cy="2812226"/>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b="1" u="sng" dirty="0"/>
              <a:t>Understanding the Inflation Trends before and after</a:t>
            </a:r>
            <a:r>
              <a:rPr lang="en-US" sz="1400" b="1" u="sng" baseline="0" dirty="0"/>
              <a:t> </a:t>
            </a:r>
            <a:r>
              <a:rPr lang="en-US" sz="1400" b="1" u="sng" dirty="0"/>
              <a:t>March</a:t>
            </a:r>
            <a:r>
              <a:rPr lang="en-US" sz="1400" b="1" u="sng" baseline="0" dirty="0"/>
              <a:t> 2020 for Rural Sector</a:t>
            </a:r>
          </a:p>
          <a:p>
            <a:pPr algn="l"/>
            <a:r>
              <a:rPr lang="en-US" sz="1400" b="1" baseline="0" dirty="0"/>
              <a:t>Key Insights:-                            Before                                                                                                                                   After </a:t>
            </a:r>
          </a:p>
          <a:p>
            <a:pPr algn="l"/>
            <a:r>
              <a:rPr lang="en-US" sz="1400" b="1" baseline="0" dirty="0"/>
              <a:t> </a:t>
            </a:r>
            <a:endParaRPr lang="en-US" sz="1400" b="1" dirty="0"/>
          </a:p>
        </p:txBody>
      </p:sp>
      <p:sp>
        <p:nvSpPr>
          <p:cNvPr id="3" name="TextBox 16">
            <a:extLst>
              <a:ext uri="{FF2B5EF4-FFF2-40B4-BE49-F238E27FC236}">
                <a16:creationId xmlns:a16="http://schemas.microsoft.com/office/drawing/2014/main" id="{829DB922-7135-4339-91BD-A9FB65B7F672}"/>
              </a:ext>
            </a:extLst>
          </p:cNvPr>
          <p:cNvSpPr txBox="1"/>
          <p:nvPr/>
        </p:nvSpPr>
        <p:spPr>
          <a:xfrm>
            <a:off x="344775" y="662669"/>
            <a:ext cx="5590274" cy="1361003"/>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200" dirty="0"/>
              <a:t>* </a:t>
            </a:r>
            <a:r>
              <a:rPr lang="en-US" sz="1200" b="1" dirty="0"/>
              <a:t>Food and beverages</a:t>
            </a:r>
            <a:r>
              <a:rPr lang="en-US" sz="1200" dirty="0"/>
              <a:t> inflation saw a substantial increase, jumping from a very low </a:t>
            </a:r>
            <a:r>
              <a:rPr lang="en-US" sz="1200" b="1" dirty="0"/>
              <a:t>0.4% in 2018-19 to 4.8% in 2019-20</a:t>
            </a:r>
            <a:r>
              <a:rPr lang="en-US" sz="1200" dirty="0"/>
              <a:t>. While not as high as the urban sector's 8.6%, this is still a significant rise and indicates food prices were a major inflationary factor in rural areas.</a:t>
            </a:r>
          </a:p>
          <a:p>
            <a:r>
              <a:rPr lang="en-US" sz="1200" dirty="0"/>
              <a:t>*</a:t>
            </a:r>
            <a:r>
              <a:rPr lang="en-US" sz="1200" baseline="0" dirty="0"/>
              <a:t> </a:t>
            </a:r>
            <a:r>
              <a:rPr lang="en-US" sz="1200" b="1" dirty="0"/>
              <a:t>Fuel and light</a:t>
            </a:r>
            <a:r>
              <a:rPr lang="en-US" sz="1200" dirty="0"/>
              <a:t> recorded a notably low inflation rate. Consistent High </a:t>
            </a:r>
            <a:r>
              <a:rPr lang="en-US" sz="1200" b="1" dirty="0"/>
              <a:t>Health and Education</a:t>
            </a:r>
            <a:r>
              <a:rPr lang="en-US" sz="1200" dirty="0"/>
              <a:t> Inflation rate </a:t>
            </a:r>
            <a:r>
              <a:rPr lang="en-US" sz="1200" b="1" dirty="0"/>
              <a:t>Clothing and footwear </a:t>
            </a:r>
            <a:r>
              <a:rPr lang="en-US" sz="1200" dirty="0"/>
              <a:t>saw a sharp drop</a:t>
            </a:r>
            <a:r>
              <a:rPr lang="en-US" sz="1200" b="1" dirty="0"/>
              <a:t>, </a:t>
            </a:r>
            <a:r>
              <a:rPr lang="en-US" sz="1200" dirty="0"/>
              <a:t>"</a:t>
            </a:r>
            <a:r>
              <a:rPr lang="en-US" sz="1200" b="1" dirty="0"/>
              <a:t>Housing</a:t>
            </a:r>
            <a:r>
              <a:rPr lang="en-US" sz="1200" dirty="0"/>
              <a:t>" also decreased</a:t>
            </a:r>
            <a:r>
              <a:rPr lang="en-US" sz="1200" b="1" dirty="0"/>
              <a:t> and Pan, tobacco and intoxicants</a:t>
            </a:r>
            <a:r>
              <a:rPr lang="en-US" sz="1200" dirty="0"/>
              <a:t> </a:t>
            </a:r>
            <a:r>
              <a:rPr lang="en-US" sz="1200" baseline="0" dirty="0"/>
              <a:t>also decreased.</a:t>
            </a:r>
            <a:endParaRPr lang="en-US" sz="1200" b="1" u="sng" dirty="0"/>
          </a:p>
          <a:p>
            <a:endParaRPr lang="en-US" sz="1200" dirty="0"/>
          </a:p>
        </p:txBody>
      </p:sp>
      <p:sp>
        <p:nvSpPr>
          <p:cNvPr id="4" name="TextBox 17">
            <a:extLst>
              <a:ext uri="{FF2B5EF4-FFF2-40B4-BE49-F238E27FC236}">
                <a16:creationId xmlns:a16="http://schemas.microsoft.com/office/drawing/2014/main" id="{875C6DB6-6FF6-4204-B768-0AFAA8426BCE}"/>
              </a:ext>
            </a:extLst>
          </p:cNvPr>
          <p:cNvSpPr txBox="1"/>
          <p:nvPr/>
        </p:nvSpPr>
        <p:spPr>
          <a:xfrm>
            <a:off x="6044476" y="662671"/>
            <a:ext cx="5725185" cy="136100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200" dirty="0"/>
              <a:t>*</a:t>
            </a:r>
            <a:r>
              <a:rPr lang="en-US" sz="1200" b="1" dirty="0"/>
              <a:t>Fuel and light</a:t>
            </a:r>
            <a:r>
              <a:rPr lang="en-US" sz="1200" dirty="0"/>
              <a:t> inflation went from a deflationary </a:t>
            </a:r>
            <a:r>
              <a:rPr lang="en-US" sz="1200" b="1" dirty="0"/>
              <a:t>-0.2% in 2020-21 to a staggering 9.5% in 2021-22</a:t>
            </a:r>
            <a:r>
              <a:rPr lang="en-US" sz="1200" dirty="0"/>
              <a:t>. This highlights a major energy cost shock impacting rural areas post-2020.</a:t>
            </a:r>
          </a:p>
          <a:p>
            <a:r>
              <a:rPr lang="en-US" sz="1200" dirty="0"/>
              <a:t>*  </a:t>
            </a:r>
            <a:r>
              <a:rPr lang="en-US" sz="1200" b="1" dirty="0"/>
              <a:t>Food Inflation</a:t>
            </a:r>
            <a:r>
              <a:rPr lang="en-US" sz="1200" dirty="0"/>
              <a:t> remains high ,Sharp low in </a:t>
            </a:r>
            <a:r>
              <a:rPr lang="en-US" sz="1200" b="1" dirty="0"/>
              <a:t>Pan, Tobacco and Intoxicants</a:t>
            </a:r>
            <a:r>
              <a:rPr lang="en-US" sz="1200" b="0" dirty="0"/>
              <a:t>,</a:t>
            </a:r>
            <a:r>
              <a:rPr lang="en-US" sz="1200" b="0" baseline="0" dirty="0"/>
              <a:t> </a:t>
            </a:r>
            <a:r>
              <a:rPr lang="en-US" sz="1200" b="1" dirty="0"/>
              <a:t>Health</a:t>
            </a:r>
            <a:r>
              <a:rPr lang="en-US" sz="1200" dirty="0"/>
              <a:t> inflation consistently remained high</a:t>
            </a:r>
          </a:p>
          <a:p>
            <a:r>
              <a:rPr lang="en-US" sz="1200" dirty="0"/>
              <a:t>                            </a:t>
            </a:r>
          </a:p>
        </p:txBody>
      </p:sp>
      <p:sp>
        <p:nvSpPr>
          <p:cNvPr id="5" name="TextBox 18">
            <a:extLst>
              <a:ext uri="{FF2B5EF4-FFF2-40B4-BE49-F238E27FC236}">
                <a16:creationId xmlns:a16="http://schemas.microsoft.com/office/drawing/2014/main" id="{1CFAE869-C217-4B9E-B4CA-35598E4AF843}"/>
              </a:ext>
            </a:extLst>
          </p:cNvPr>
          <p:cNvSpPr txBox="1"/>
          <p:nvPr/>
        </p:nvSpPr>
        <p:spPr>
          <a:xfrm rot="10800000" flipV="1">
            <a:off x="344775" y="2133516"/>
            <a:ext cx="11424886" cy="695387"/>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400" b="1" dirty="0"/>
              <a:t>Reason -: </a:t>
            </a:r>
            <a:r>
              <a:rPr lang="en-US" sz="1400" dirty="0"/>
              <a:t>The rural sector’s inflation trend shifted sharply post-2020, moving from broad-based drivers like health and education to essentials such as food and fuel. This change was largely due to COVID-19 and supply chain disruptions, which put direct pressure on household budgets and reshaped the inflation dynamics in rural areas.</a:t>
            </a:r>
            <a:endParaRPr lang="en-US" sz="1400" b="1" dirty="0"/>
          </a:p>
        </p:txBody>
      </p:sp>
      <p:graphicFrame>
        <p:nvGraphicFramePr>
          <p:cNvPr id="6" name="Chart 5">
            <a:extLst>
              <a:ext uri="{FF2B5EF4-FFF2-40B4-BE49-F238E27FC236}">
                <a16:creationId xmlns:a16="http://schemas.microsoft.com/office/drawing/2014/main" id="{6C5971DA-2836-67CB-B4DA-EEBFDFD7C285}"/>
              </a:ext>
            </a:extLst>
          </p:cNvPr>
          <p:cNvGraphicFramePr>
            <a:graphicFrameLocks/>
          </p:cNvGraphicFramePr>
          <p:nvPr>
            <p:extLst>
              <p:ext uri="{D42A27DB-BD31-4B8C-83A1-F6EECF244321}">
                <p14:modId xmlns:p14="http://schemas.microsoft.com/office/powerpoint/2010/main" val="855381083"/>
              </p:ext>
            </p:extLst>
          </p:nvPr>
        </p:nvGraphicFramePr>
        <p:xfrm>
          <a:off x="124418" y="3099707"/>
          <a:ext cx="5751726" cy="37256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D5594889-9DDC-5299-DCA0-421A3086CF06}"/>
              </a:ext>
            </a:extLst>
          </p:cNvPr>
          <p:cNvGraphicFramePr>
            <a:graphicFrameLocks/>
          </p:cNvGraphicFramePr>
          <p:nvPr>
            <p:extLst>
              <p:ext uri="{D42A27DB-BD31-4B8C-83A1-F6EECF244321}">
                <p14:modId xmlns:p14="http://schemas.microsoft.com/office/powerpoint/2010/main" val="2558302434"/>
              </p:ext>
            </p:extLst>
          </p:nvPr>
        </p:nvGraphicFramePr>
        <p:xfrm>
          <a:off x="6044475" y="3099707"/>
          <a:ext cx="6008117" cy="372563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4737916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9">
            <a:extLst>
              <a:ext uri="{FF2B5EF4-FFF2-40B4-BE49-F238E27FC236}">
                <a16:creationId xmlns:a16="http://schemas.microsoft.com/office/drawing/2014/main" id="{2377B5EA-A591-4B58-AEDE-6FF63BB8226D}"/>
              </a:ext>
            </a:extLst>
          </p:cNvPr>
          <p:cNvSpPr txBox="1"/>
          <p:nvPr/>
        </p:nvSpPr>
        <p:spPr>
          <a:xfrm>
            <a:off x="149901" y="111805"/>
            <a:ext cx="11902191" cy="2631395"/>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400" b="1" u="sng" dirty="0"/>
              <a:t>Understanding the Inflation Trends before and after</a:t>
            </a:r>
            <a:r>
              <a:rPr lang="en-US" sz="1400" b="1" u="sng" baseline="0" dirty="0"/>
              <a:t> </a:t>
            </a:r>
            <a:r>
              <a:rPr lang="en-US" sz="1400" b="1" u="sng" dirty="0"/>
              <a:t>March</a:t>
            </a:r>
            <a:r>
              <a:rPr lang="en-US" sz="1400" b="1" u="sng" baseline="0" dirty="0"/>
              <a:t> 2020 for U + R  Sector</a:t>
            </a:r>
          </a:p>
          <a:p>
            <a:pPr algn="l"/>
            <a:r>
              <a:rPr lang="en-US" sz="1400" b="1" baseline="0" dirty="0"/>
              <a:t>Key Insights:-                            Before                                                                                                                               After </a:t>
            </a:r>
          </a:p>
          <a:p>
            <a:pPr algn="l"/>
            <a:r>
              <a:rPr lang="en-US" sz="1400" b="1" baseline="0" dirty="0"/>
              <a:t> </a:t>
            </a:r>
            <a:endParaRPr lang="en-US" sz="1400" b="1" dirty="0"/>
          </a:p>
        </p:txBody>
      </p:sp>
      <p:sp>
        <p:nvSpPr>
          <p:cNvPr id="3" name="TextBox 21">
            <a:extLst>
              <a:ext uri="{FF2B5EF4-FFF2-40B4-BE49-F238E27FC236}">
                <a16:creationId xmlns:a16="http://schemas.microsoft.com/office/drawing/2014/main" id="{93CA23E2-4A4D-43EF-ADDF-69DB99A96509}"/>
              </a:ext>
            </a:extLst>
          </p:cNvPr>
          <p:cNvSpPr txBox="1"/>
          <p:nvPr/>
        </p:nvSpPr>
        <p:spPr>
          <a:xfrm>
            <a:off x="269821" y="662670"/>
            <a:ext cx="5724579" cy="116613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200" dirty="0"/>
              <a:t>* </a:t>
            </a:r>
            <a:r>
              <a:rPr lang="en-US" sz="1200" b="1" dirty="0"/>
              <a:t>Food and beverages</a:t>
            </a:r>
            <a:r>
              <a:rPr lang="en-US" sz="1200" dirty="0"/>
              <a:t> surged from a very low </a:t>
            </a:r>
            <a:r>
              <a:rPr lang="en-US" sz="1200" b="1" dirty="0"/>
              <a:t>0.7% in 2018-19 to 6.5% in 2019-20</a:t>
            </a:r>
            <a:r>
              <a:rPr lang="en-US" sz="1200" dirty="0"/>
              <a:t>. This indicates that rising food prices were a primary driver of overall inflation across both urban and rural areas before 2020.</a:t>
            </a:r>
          </a:p>
          <a:p>
            <a:r>
              <a:rPr lang="en-US" sz="1200" dirty="0"/>
              <a:t>*</a:t>
            </a:r>
            <a:r>
              <a:rPr lang="en-US" sz="1200" baseline="0" dirty="0"/>
              <a:t> </a:t>
            </a:r>
            <a:r>
              <a:rPr lang="en-US" sz="1200" b="1" dirty="0"/>
              <a:t>Fuel and light </a:t>
            </a:r>
            <a:r>
              <a:rPr lang="en-US" sz="1200" dirty="0"/>
              <a:t>saw a sharp decline.</a:t>
            </a:r>
            <a:r>
              <a:rPr lang="en-US" sz="1200" baseline="0" dirty="0"/>
              <a:t> </a:t>
            </a:r>
            <a:r>
              <a:rPr lang="en-US" sz="1200" b="1" dirty="0"/>
              <a:t>Health and Education</a:t>
            </a:r>
            <a:r>
              <a:rPr lang="en-US" sz="1200" b="0" baseline="0" dirty="0"/>
              <a:t> </a:t>
            </a:r>
            <a:r>
              <a:rPr lang="en-US" sz="1200" dirty="0"/>
              <a:t>categories consistently showed high inflation rates </a:t>
            </a:r>
            <a:r>
              <a:rPr lang="en-US" sz="1200" b="1" dirty="0"/>
              <a:t>Clothing and footwear </a:t>
            </a:r>
            <a:r>
              <a:rPr lang="en-US" sz="1200" dirty="0"/>
              <a:t>saw a notable drop</a:t>
            </a:r>
            <a:r>
              <a:rPr lang="en-US" sz="1200" b="1" dirty="0"/>
              <a:t>, </a:t>
            </a:r>
            <a:r>
              <a:rPr lang="en-US" sz="1200" dirty="0"/>
              <a:t>"</a:t>
            </a:r>
            <a:r>
              <a:rPr lang="en-US" sz="1200" b="1" dirty="0"/>
              <a:t>Housing</a:t>
            </a:r>
            <a:r>
              <a:rPr lang="en-US" sz="1200" dirty="0"/>
              <a:t>" also decreased</a:t>
            </a:r>
            <a:r>
              <a:rPr lang="en-US" sz="1200" b="1" dirty="0"/>
              <a:t> and Pan, tobacco and intoxicants</a:t>
            </a:r>
            <a:r>
              <a:rPr lang="en-US" sz="1200" dirty="0"/>
              <a:t> </a:t>
            </a:r>
            <a:r>
              <a:rPr lang="en-US" sz="1200" baseline="0" dirty="0"/>
              <a:t>also decreased.</a:t>
            </a:r>
            <a:endParaRPr lang="en-US" sz="1200" dirty="0"/>
          </a:p>
        </p:txBody>
      </p:sp>
      <p:sp>
        <p:nvSpPr>
          <p:cNvPr id="4" name="TextBox 20">
            <a:extLst>
              <a:ext uri="{FF2B5EF4-FFF2-40B4-BE49-F238E27FC236}">
                <a16:creationId xmlns:a16="http://schemas.microsoft.com/office/drawing/2014/main" id="{93DD72A3-4F7E-4003-AB9B-8F15AF4C27B7}"/>
              </a:ext>
            </a:extLst>
          </p:cNvPr>
          <p:cNvSpPr txBox="1"/>
          <p:nvPr/>
        </p:nvSpPr>
        <p:spPr>
          <a:xfrm>
            <a:off x="6118839" y="662671"/>
            <a:ext cx="5813329" cy="116613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200" dirty="0"/>
              <a:t>*</a:t>
            </a:r>
            <a:r>
              <a:rPr lang="en-US" sz="1200" b="1" dirty="0"/>
              <a:t>Fuel and light</a:t>
            </a:r>
            <a:r>
              <a:rPr lang="en-US" sz="1200" dirty="0"/>
              <a:t> jumped from 2.1% in 2020-21 to an exceptionally high </a:t>
            </a:r>
            <a:r>
              <a:rPr lang="en-US" sz="1200" b="1" dirty="0"/>
              <a:t>11.8% in 2021-22</a:t>
            </a:r>
            <a:r>
              <a:rPr lang="en-US" sz="1200" dirty="0"/>
              <a:t>. This is a clear indicator that rising energy costs became the dominant inflationary pressure across both urban and rural areas post-2020.</a:t>
            </a:r>
          </a:p>
          <a:p>
            <a:r>
              <a:rPr lang="en-US" sz="1200" dirty="0"/>
              <a:t>*  </a:t>
            </a:r>
            <a:r>
              <a:rPr lang="en-US" sz="1200" b="1" dirty="0"/>
              <a:t>Food and Beverages</a:t>
            </a:r>
            <a:r>
              <a:rPr lang="en-US" sz="1200" dirty="0"/>
              <a:t> dropped significantly,</a:t>
            </a:r>
            <a:r>
              <a:rPr lang="en-US" sz="1200" baseline="0" dirty="0"/>
              <a:t> </a:t>
            </a:r>
            <a:r>
              <a:rPr lang="en-US" sz="1200" dirty="0"/>
              <a:t>Sharp drop in </a:t>
            </a:r>
            <a:r>
              <a:rPr lang="en-US" sz="1200" b="1" dirty="0"/>
              <a:t>Pan, Tobacco and Intoxicants</a:t>
            </a:r>
            <a:r>
              <a:rPr lang="en-US" sz="1200" dirty="0"/>
              <a:t>, </a:t>
            </a:r>
            <a:r>
              <a:rPr lang="en-US" sz="1200" b="1" dirty="0"/>
              <a:t>Health</a:t>
            </a:r>
            <a:r>
              <a:rPr lang="en-US" sz="1200" dirty="0"/>
              <a:t> Inflation</a:t>
            </a:r>
            <a:r>
              <a:rPr lang="en-US" sz="1200" baseline="0" dirty="0"/>
              <a:t> </a:t>
            </a:r>
            <a:r>
              <a:rPr lang="en-US" sz="1200" dirty="0"/>
              <a:t>significantly increase to 7.3% in 2021-22,</a:t>
            </a:r>
            <a:r>
              <a:rPr lang="en-US" sz="1200" baseline="0" dirty="0"/>
              <a:t> </a:t>
            </a:r>
            <a:endParaRPr lang="en-US" sz="1200" dirty="0"/>
          </a:p>
          <a:p>
            <a:r>
              <a:rPr lang="en-US" sz="1200" dirty="0"/>
              <a:t>                                                  </a:t>
            </a:r>
          </a:p>
        </p:txBody>
      </p:sp>
      <p:sp>
        <p:nvSpPr>
          <p:cNvPr id="5" name="TextBox 22">
            <a:extLst>
              <a:ext uri="{FF2B5EF4-FFF2-40B4-BE49-F238E27FC236}">
                <a16:creationId xmlns:a16="http://schemas.microsoft.com/office/drawing/2014/main" id="{8E1B9ADA-9786-4F9C-A0BB-8B7EF4FB957F}"/>
              </a:ext>
            </a:extLst>
          </p:cNvPr>
          <p:cNvSpPr txBox="1"/>
          <p:nvPr/>
        </p:nvSpPr>
        <p:spPr>
          <a:xfrm rot="10800000" flipV="1">
            <a:off x="269821" y="1959469"/>
            <a:ext cx="11662348" cy="67880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400" b="1" dirty="0"/>
              <a:t>Reason -: </a:t>
            </a:r>
            <a:r>
              <a:rPr lang="en-US" sz="1400" dirty="0"/>
              <a:t>India’s inflation trend highlights a clear shift post-2020 — from being broad-based across sectors like health and education to being concentrated in essentials such as fuel and food. This was driven by pandemic disruptions and global geopolitical shocks, which strained supply chains and pushed up the cost of basic needs, putting more pressure on household budgets.</a:t>
            </a:r>
            <a:endParaRPr lang="en-US" sz="1400" b="1" dirty="0"/>
          </a:p>
        </p:txBody>
      </p:sp>
      <p:graphicFrame>
        <p:nvGraphicFramePr>
          <p:cNvPr id="6" name="Chart 5">
            <a:extLst>
              <a:ext uri="{FF2B5EF4-FFF2-40B4-BE49-F238E27FC236}">
                <a16:creationId xmlns:a16="http://schemas.microsoft.com/office/drawing/2014/main" id="{AD48ECBB-569F-B80B-A8BB-8EBA7D3C9630}"/>
              </a:ext>
            </a:extLst>
          </p:cNvPr>
          <p:cNvGraphicFramePr>
            <a:graphicFrameLocks/>
          </p:cNvGraphicFramePr>
          <p:nvPr>
            <p:extLst>
              <p:ext uri="{D42A27DB-BD31-4B8C-83A1-F6EECF244321}">
                <p14:modId xmlns:p14="http://schemas.microsoft.com/office/powerpoint/2010/main" val="2886591122"/>
              </p:ext>
            </p:extLst>
          </p:nvPr>
        </p:nvGraphicFramePr>
        <p:xfrm>
          <a:off x="48125" y="2873867"/>
          <a:ext cx="5946275" cy="394727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1C9A7190-E58D-747C-9142-9F3381B29311}"/>
              </a:ext>
            </a:extLst>
          </p:cNvPr>
          <p:cNvGraphicFramePr>
            <a:graphicFrameLocks/>
          </p:cNvGraphicFramePr>
          <p:nvPr>
            <p:extLst>
              <p:ext uri="{D42A27DB-BD31-4B8C-83A1-F6EECF244321}">
                <p14:modId xmlns:p14="http://schemas.microsoft.com/office/powerpoint/2010/main" val="3167220073"/>
              </p:ext>
            </p:extLst>
          </p:nvPr>
        </p:nvGraphicFramePr>
        <p:xfrm>
          <a:off x="6096000" y="2873867"/>
          <a:ext cx="6052252" cy="394727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155208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90541-651D-61AE-70C0-87F8178DE32B}"/>
              </a:ext>
            </a:extLst>
          </p:cNvPr>
          <p:cNvSpPr txBox="1">
            <a:spLocks/>
          </p:cNvSpPr>
          <p:nvPr/>
        </p:nvSpPr>
        <p:spPr>
          <a:xfrm>
            <a:off x="4047820" y="127354"/>
            <a:ext cx="4067331" cy="569626"/>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en-US" sz="2800" dirty="0">
                <a:latin typeface="Berlin Sans FB" panose="020E0602020502020306" pitchFamily="34" charset="0"/>
              </a:rPr>
              <a:t>Problem Statement :- 5 </a:t>
            </a:r>
          </a:p>
        </p:txBody>
      </p:sp>
      <p:sp>
        <p:nvSpPr>
          <p:cNvPr id="3" name="TextBox 2">
            <a:extLst>
              <a:ext uri="{FF2B5EF4-FFF2-40B4-BE49-F238E27FC236}">
                <a16:creationId xmlns:a16="http://schemas.microsoft.com/office/drawing/2014/main" id="{6780D20E-69A0-E552-AE18-B74087C79B2A}"/>
              </a:ext>
            </a:extLst>
          </p:cNvPr>
          <p:cNvSpPr txBox="1"/>
          <p:nvPr/>
        </p:nvSpPr>
        <p:spPr>
          <a:xfrm>
            <a:off x="827433" y="696980"/>
            <a:ext cx="10508104" cy="830997"/>
          </a:xfrm>
          <a:prstGeom prst="rect">
            <a:avLst/>
          </a:prstGeom>
          <a:noFill/>
        </p:spPr>
        <p:txBody>
          <a:bodyPr wrap="square" rtlCol="0">
            <a:spAutoFit/>
          </a:bodyPr>
          <a:lstStyle/>
          <a:p>
            <a:r>
              <a:rPr lang="en-US" sz="2400" b="1" dirty="0">
                <a:latin typeface="Castellar" panose="020A0402060406010301" pitchFamily="18" charset="0"/>
              </a:rPr>
              <a:t>Identifying trends in imported oil price change with change in inflation</a:t>
            </a:r>
          </a:p>
        </p:txBody>
      </p:sp>
      <p:graphicFrame>
        <p:nvGraphicFramePr>
          <p:cNvPr id="6" name="Chart 5">
            <a:extLst>
              <a:ext uri="{FF2B5EF4-FFF2-40B4-BE49-F238E27FC236}">
                <a16:creationId xmlns:a16="http://schemas.microsoft.com/office/drawing/2014/main" id="{9402D89D-B692-45D2-B44F-A28D12F233F9}"/>
              </a:ext>
            </a:extLst>
          </p:cNvPr>
          <p:cNvGraphicFramePr>
            <a:graphicFrameLocks/>
          </p:cNvGraphicFramePr>
          <p:nvPr>
            <p:extLst>
              <p:ext uri="{D42A27DB-BD31-4B8C-83A1-F6EECF244321}">
                <p14:modId xmlns:p14="http://schemas.microsoft.com/office/powerpoint/2010/main" val="2217735204"/>
              </p:ext>
            </p:extLst>
          </p:nvPr>
        </p:nvGraphicFramePr>
        <p:xfrm>
          <a:off x="3477718" y="1527977"/>
          <a:ext cx="8714282" cy="533002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843F259A-8A32-08F6-3AF5-D16D2D745FD3}"/>
              </a:ext>
            </a:extLst>
          </p:cNvPr>
          <p:cNvSpPr txBox="1"/>
          <p:nvPr/>
        </p:nvSpPr>
        <p:spPr>
          <a:xfrm>
            <a:off x="299803" y="1527977"/>
            <a:ext cx="3072984" cy="5416868"/>
          </a:xfrm>
          <a:prstGeom prst="rect">
            <a:avLst/>
          </a:prstGeom>
          <a:noFill/>
          <a:ln>
            <a:solidFill>
              <a:schemeClr val="tx1">
                <a:lumMod val="95000"/>
                <a:lumOff val="5000"/>
              </a:schemeClr>
            </a:solidFill>
          </a:ln>
        </p:spPr>
        <p:txBody>
          <a:bodyPr wrap="square" rtlCol="0">
            <a:spAutoFit/>
          </a:bodyPr>
          <a:lstStyle/>
          <a:p>
            <a:r>
              <a:rPr lang="en-US" sz="2400" b="1" dirty="0"/>
              <a:t>Interpretation -: </a:t>
            </a:r>
          </a:p>
          <a:p>
            <a:pPr marL="342900" indent="-342900">
              <a:buFont typeface="Arial" panose="020B0604020202020204" pitchFamily="34" charset="0"/>
              <a:buChar char="•"/>
            </a:pPr>
            <a:r>
              <a:rPr lang="en-US" sz="1400" dirty="0"/>
              <a:t>the strongest positive correlation to imported oil prices is </a:t>
            </a:r>
            <a:r>
              <a:rPr lang="en-US" sz="1400" b="1" dirty="0"/>
              <a:t>Oils and fats</a:t>
            </a:r>
            <a:r>
              <a:rPr lang="en-US" sz="1400" dirty="0"/>
              <a:t>, with a correlation coefficient of </a:t>
            </a:r>
            <a:r>
              <a:rPr lang="en-US" sz="1400" b="1" dirty="0"/>
              <a:t>0.81</a:t>
            </a:r>
            <a:r>
              <a:rPr lang="en-US" sz="1400" dirty="0"/>
              <a:t>.</a:t>
            </a:r>
          </a:p>
          <a:p>
            <a:pPr marL="342900" indent="-342900">
              <a:buFont typeface="Arial" panose="020B0604020202020204" pitchFamily="34" charset="0"/>
              <a:buChar char="•"/>
            </a:pPr>
            <a:endParaRPr lang="en-US" sz="1400" dirty="0"/>
          </a:p>
          <a:p>
            <a:pPr marL="342900" indent="-342900">
              <a:buFont typeface="Arial" panose="020B0604020202020204" pitchFamily="34" charset="0"/>
              <a:buChar char="•"/>
            </a:pPr>
            <a:r>
              <a:rPr lang="en-US" sz="1400" dirty="0"/>
              <a:t>The category with the weakest positive correlation is </a:t>
            </a:r>
            <a:r>
              <a:rPr lang="en-US" sz="1400" b="1" dirty="0"/>
              <a:t>Pulses and products</a:t>
            </a:r>
            <a:r>
              <a:rPr lang="en-US" sz="1400" dirty="0"/>
              <a:t>, with a coefficient of </a:t>
            </a:r>
            <a:r>
              <a:rPr lang="en-US" sz="1400" b="1" dirty="0"/>
              <a:t>0.22</a:t>
            </a:r>
          </a:p>
          <a:p>
            <a:pPr marL="342900" indent="-342900">
              <a:buFont typeface="Arial" panose="020B0604020202020204" pitchFamily="34" charset="0"/>
              <a:buChar char="•"/>
            </a:pPr>
            <a:endParaRPr lang="en-US" sz="1400" b="1" dirty="0"/>
          </a:p>
          <a:p>
            <a:pPr marL="342900" indent="-342900">
              <a:buFont typeface="Arial" panose="020B0604020202020204" pitchFamily="34" charset="0"/>
              <a:buChar char="•"/>
            </a:pPr>
            <a:r>
              <a:rPr lang="en-US" sz="1400" dirty="0"/>
              <a:t>The only category that shows a negative correlation is </a:t>
            </a:r>
            <a:r>
              <a:rPr lang="en-US" sz="1400" b="1" dirty="0"/>
              <a:t>Egg</a:t>
            </a:r>
            <a:r>
              <a:rPr lang="en-US" sz="1400" dirty="0"/>
              <a:t>, with a coefficient of </a:t>
            </a:r>
            <a:r>
              <a:rPr lang="en-US" sz="1400" b="1" dirty="0"/>
              <a:t>-0.21</a:t>
            </a:r>
            <a:r>
              <a:rPr lang="en-US" sz="1600" dirty="0"/>
              <a:t>.</a:t>
            </a:r>
          </a:p>
          <a:p>
            <a:pPr marL="342900" indent="-342900">
              <a:buFont typeface="Arial" panose="020B0604020202020204" pitchFamily="34" charset="0"/>
              <a:buChar char="•"/>
            </a:pPr>
            <a:endParaRPr lang="en-US" sz="1600" b="1" dirty="0"/>
          </a:p>
          <a:p>
            <a:r>
              <a:rPr lang="en-US" sz="2400" b="1" dirty="0"/>
              <a:t>Insights -:</a:t>
            </a:r>
          </a:p>
          <a:p>
            <a:r>
              <a:rPr lang="en-US" sz="1400" dirty="0"/>
              <a:t>The cost of oils and fats for rural consumers rises with imported oil prices, likely due to crude oil derivatives used in production and transport and as imported oil prices rise, egg prices in rural areas may slightly decrease or be less affected by general inflationary pressures..</a:t>
            </a:r>
          </a:p>
        </p:txBody>
      </p:sp>
    </p:spTree>
    <p:extLst>
      <p:ext uri="{BB962C8B-B14F-4D97-AF65-F5344CB8AC3E}">
        <p14:creationId xmlns:p14="http://schemas.microsoft.com/office/powerpoint/2010/main" val="160235461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3A19C01C-7296-4875-B900-F4E1399A1CFD}"/>
              </a:ext>
            </a:extLst>
          </p:cNvPr>
          <p:cNvGraphicFramePr>
            <a:graphicFrameLocks/>
          </p:cNvGraphicFramePr>
          <p:nvPr>
            <p:extLst>
              <p:ext uri="{D42A27DB-BD31-4B8C-83A1-F6EECF244321}">
                <p14:modId xmlns:p14="http://schemas.microsoft.com/office/powerpoint/2010/main" val="3693344377"/>
              </p:ext>
            </p:extLst>
          </p:nvPr>
        </p:nvGraphicFramePr>
        <p:xfrm>
          <a:off x="3282846" y="0"/>
          <a:ext cx="8909154" cy="6858001"/>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CEA1B953-076D-884A-249C-C2A073576F52}"/>
              </a:ext>
            </a:extLst>
          </p:cNvPr>
          <p:cNvSpPr txBox="1"/>
          <p:nvPr/>
        </p:nvSpPr>
        <p:spPr>
          <a:xfrm>
            <a:off x="104933" y="73935"/>
            <a:ext cx="3072984" cy="6709529"/>
          </a:xfrm>
          <a:prstGeom prst="rect">
            <a:avLst/>
          </a:prstGeom>
          <a:noFill/>
          <a:ln>
            <a:solidFill>
              <a:schemeClr val="tx1">
                <a:lumMod val="95000"/>
                <a:lumOff val="5000"/>
              </a:schemeClr>
            </a:solidFill>
          </a:ln>
        </p:spPr>
        <p:txBody>
          <a:bodyPr wrap="square" rtlCol="0">
            <a:spAutoFit/>
          </a:bodyPr>
          <a:lstStyle/>
          <a:p>
            <a:r>
              <a:rPr lang="en-US" sz="2400" b="1" dirty="0"/>
              <a:t>Interpretation -: </a:t>
            </a:r>
          </a:p>
          <a:p>
            <a:pPr marL="342900" indent="-342900">
              <a:buFont typeface="Arial" panose="020B0604020202020204" pitchFamily="34" charset="0"/>
              <a:buChar char="•"/>
            </a:pPr>
            <a:r>
              <a:rPr lang="en-US" sz="1400" dirty="0"/>
              <a:t>the strongest positive correlation to imported oil prices is </a:t>
            </a:r>
            <a:r>
              <a:rPr lang="en-US" sz="1400" b="1" dirty="0"/>
              <a:t>Oils and fats</a:t>
            </a:r>
            <a:r>
              <a:rPr lang="en-US" sz="1400" dirty="0"/>
              <a:t>, with a correlation coefficient of </a:t>
            </a:r>
            <a:r>
              <a:rPr lang="en-US" sz="1400" b="1" dirty="0"/>
              <a:t>0.83</a:t>
            </a:r>
            <a:r>
              <a:rPr lang="en-US" sz="1400" dirty="0"/>
              <a:t>.</a:t>
            </a:r>
          </a:p>
          <a:p>
            <a:pPr marL="342900" indent="-342900">
              <a:buFont typeface="Arial" panose="020B0604020202020204" pitchFamily="34" charset="0"/>
              <a:buChar char="•"/>
            </a:pPr>
            <a:endParaRPr lang="en-US" sz="1400" dirty="0"/>
          </a:p>
          <a:p>
            <a:pPr marL="342900" indent="-342900">
              <a:buFont typeface="Arial" panose="020B0604020202020204" pitchFamily="34" charset="0"/>
              <a:buChar char="•"/>
            </a:pPr>
            <a:r>
              <a:rPr lang="en-US" sz="1400" dirty="0"/>
              <a:t>The chart reveals a unique correlation for </a:t>
            </a:r>
            <a:r>
              <a:rPr lang="en-US" sz="1400" b="1" dirty="0"/>
              <a:t>Pulses and products</a:t>
            </a:r>
            <a:r>
              <a:rPr lang="en-US" sz="1400" dirty="0"/>
              <a:t>, which has a correlation coefficient of </a:t>
            </a:r>
            <a:r>
              <a:rPr lang="en-US" sz="1400" b="1" dirty="0"/>
              <a:t>0.00</a:t>
            </a:r>
          </a:p>
          <a:p>
            <a:pPr marL="342900" indent="-342900">
              <a:buFont typeface="Arial" panose="020B0604020202020204" pitchFamily="34" charset="0"/>
              <a:buChar char="•"/>
            </a:pPr>
            <a:endParaRPr lang="en-US" sz="1400" b="1" dirty="0"/>
          </a:p>
          <a:p>
            <a:pPr marL="342900" indent="-342900">
              <a:buFont typeface="Arial" panose="020B0604020202020204" pitchFamily="34" charset="0"/>
              <a:buChar char="•"/>
            </a:pPr>
            <a:r>
              <a:rPr lang="en-US" sz="1400" dirty="0"/>
              <a:t>The only category that shows a negative correlation is </a:t>
            </a:r>
            <a:r>
              <a:rPr lang="en-US" sz="1400" b="1" dirty="0"/>
              <a:t>Egg</a:t>
            </a:r>
            <a:r>
              <a:rPr lang="en-US" sz="1400" dirty="0"/>
              <a:t>, with a coefficient of </a:t>
            </a:r>
            <a:r>
              <a:rPr lang="en-US" sz="1400" b="1" dirty="0"/>
              <a:t>-0.27</a:t>
            </a:r>
            <a:r>
              <a:rPr lang="en-US" sz="1600" dirty="0"/>
              <a:t>.</a:t>
            </a:r>
          </a:p>
          <a:p>
            <a:pPr marL="342900" indent="-342900">
              <a:buFont typeface="Arial" panose="020B0604020202020204" pitchFamily="34" charset="0"/>
              <a:buChar char="•"/>
            </a:pPr>
            <a:endParaRPr lang="en-US" sz="1600" b="1" dirty="0"/>
          </a:p>
          <a:p>
            <a:r>
              <a:rPr lang="en-US" sz="2400" b="1" dirty="0"/>
              <a:t>Insights -:</a:t>
            </a:r>
          </a:p>
          <a:p>
            <a:r>
              <a:rPr lang="en-US" sz="1400" dirty="0"/>
              <a:t>The cost of oils and fats for Urban consumers rises with imported oil prices, likely due to crude oil derivatives used in production and transport and as imported oil prices rise, egg prices in rural areas may slightly decrease or be less affected by general inflationary pressures.</a:t>
            </a:r>
          </a:p>
          <a:p>
            <a:endParaRPr lang="en-US" sz="1400" dirty="0"/>
          </a:p>
          <a:p>
            <a:endParaRPr lang="en-US" sz="1400" dirty="0"/>
          </a:p>
          <a:p>
            <a:endParaRPr lang="en-US" sz="1400" dirty="0"/>
          </a:p>
          <a:p>
            <a:endParaRPr lang="en-US" sz="1400" dirty="0"/>
          </a:p>
          <a:p>
            <a:endParaRPr lang="en-US" sz="1400" dirty="0"/>
          </a:p>
        </p:txBody>
      </p:sp>
    </p:spTree>
    <p:extLst>
      <p:ext uri="{BB962C8B-B14F-4D97-AF65-F5344CB8AC3E}">
        <p14:creationId xmlns:p14="http://schemas.microsoft.com/office/powerpoint/2010/main" val="169593018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780B3663-5C00-46E3-A3F6-5990894196CF}"/>
              </a:ext>
            </a:extLst>
          </p:cNvPr>
          <p:cNvGraphicFramePr>
            <a:graphicFrameLocks/>
          </p:cNvGraphicFramePr>
          <p:nvPr>
            <p:extLst>
              <p:ext uri="{D42A27DB-BD31-4B8C-83A1-F6EECF244321}">
                <p14:modId xmlns:p14="http://schemas.microsoft.com/office/powerpoint/2010/main" val="2979888557"/>
              </p:ext>
            </p:extLst>
          </p:nvPr>
        </p:nvGraphicFramePr>
        <p:xfrm>
          <a:off x="3257550" y="0"/>
          <a:ext cx="8934450" cy="68580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73E47B9C-B933-1073-045F-242106D95DDB}"/>
              </a:ext>
            </a:extLst>
          </p:cNvPr>
          <p:cNvSpPr txBox="1"/>
          <p:nvPr/>
        </p:nvSpPr>
        <p:spPr>
          <a:xfrm>
            <a:off x="89943" y="73935"/>
            <a:ext cx="3072984" cy="6709529"/>
          </a:xfrm>
          <a:prstGeom prst="rect">
            <a:avLst/>
          </a:prstGeom>
          <a:noFill/>
          <a:ln>
            <a:solidFill>
              <a:schemeClr val="tx1">
                <a:lumMod val="95000"/>
                <a:lumOff val="5000"/>
              </a:schemeClr>
            </a:solidFill>
          </a:ln>
        </p:spPr>
        <p:txBody>
          <a:bodyPr wrap="square" rtlCol="0">
            <a:spAutoFit/>
          </a:bodyPr>
          <a:lstStyle/>
          <a:p>
            <a:r>
              <a:rPr lang="en-US" sz="2400" b="1" dirty="0"/>
              <a:t>Interpretation -: </a:t>
            </a:r>
          </a:p>
          <a:p>
            <a:pPr marL="342900" indent="-342900">
              <a:buFont typeface="Arial" panose="020B0604020202020204" pitchFamily="34" charset="0"/>
              <a:buChar char="•"/>
            </a:pPr>
            <a:r>
              <a:rPr lang="en-US" sz="1400" dirty="0"/>
              <a:t>the strongest positive correlation to imported oil prices is </a:t>
            </a:r>
            <a:r>
              <a:rPr lang="en-US" sz="1400" b="1" dirty="0"/>
              <a:t>Oils and fats</a:t>
            </a:r>
            <a:r>
              <a:rPr lang="en-US" sz="1400" dirty="0"/>
              <a:t>, with a correlation coefficient of </a:t>
            </a:r>
            <a:r>
              <a:rPr lang="en-US" sz="1400" b="1" dirty="0"/>
              <a:t>0.82</a:t>
            </a:r>
            <a:r>
              <a:rPr lang="en-US" sz="1400" dirty="0"/>
              <a:t>.</a:t>
            </a:r>
          </a:p>
          <a:p>
            <a:pPr marL="342900" indent="-342900">
              <a:buFont typeface="Arial" panose="020B0604020202020204" pitchFamily="34" charset="0"/>
              <a:buChar char="•"/>
            </a:pPr>
            <a:endParaRPr lang="en-US" sz="1400" dirty="0"/>
          </a:p>
          <a:p>
            <a:pPr marL="342900" indent="-342900">
              <a:buFont typeface="Arial" panose="020B0604020202020204" pitchFamily="34" charset="0"/>
              <a:buChar char="•"/>
            </a:pPr>
            <a:r>
              <a:rPr lang="en-US" sz="1400" dirty="0"/>
              <a:t>The category with the weakest positive correlation is </a:t>
            </a:r>
            <a:r>
              <a:rPr lang="en-US" sz="1400" b="1" dirty="0"/>
              <a:t>Pulses and products</a:t>
            </a:r>
            <a:r>
              <a:rPr lang="en-US" sz="1400" dirty="0"/>
              <a:t>, with a coefficient of </a:t>
            </a:r>
            <a:r>
              <a:rPr lang="en-US" sz="1400" b="1" dirty="0"/>
              <a:t>0.14</a:t>
            </a:r>
          </a:p>
          <a:p>
            <a:endParaRPr lang="en-US" sz="1400" b="1" dirty="0"/>
          </a:p>
          <a:p>
            <a:pPr marL="342900" indent="-342900">
              <a:buFont typeface="Arial" panose="020B0604020202020204" pitchFamily="34" charset="0"/>
              <a:buChar char="•"/>
            </a:pPr>
            <a:r>
              <a:rPr lang="en-US" sz="1400" dirty="0"/>
              <a:t>The only category that shows a negative correlation is </a:t>
            </a:r>
            <a:r>
              <a:rPr lang="en-US" sz="1400" b="1" dirty="0"/>
              <a:t>Egg</a:t>
            </a:r>
            <a:r>
              <a:rPr lang="en-US" sz="1400" dirty="0"/>
              <a:t>, with a coefficient of </a:t>
            </a:r>
            <a:r>
              <a:rPr lang="en-US" sz="1400" b="1" dirty="0"/>
              <a:t>-0.27</a:t>
            </a:r>
            <a:r>
              <a:rPr lang="en-US" sz="1600" dirty="0"/>
              <a:t>.</a:t>
            </a:r>
          </a:p>
          <a:p>
            <a:pPr marL="342900" indent="-342900">
              <a:buFont typeface="Arial" panose="020B0604020202020204" pitchFamily="34" charset="0"/>
              <a:buChar char="•"/>
            </a:pPr>
            <a:endParaRPr lang="en-US" sz="1600" b="1" dirty="0"/>
          </a:p>
          <a:p>
            <a:r>
              <a:rPr lang="en-US" sz="2400" b="1" dirty="0"/>
              <a:t>Insights -:</a:t>
            </a:r>
          </a:p>
          <a:p>
            <a:pPr marL="285750" indent="-285750">
              <a:buFont typeface="Arial" panose="020B0604020202020204" pitchFamily="34" charset="0"/>
              <a:buChar char="•"/>
            </a:pPr>
            <a:r>
              <a:rPr lang="en-US" sz="1400" dirty="0"/>
              <a:t>The charts show a strong link between imported oil and </a:t>
            </a:r>
            <a:r>
              <a:rPr lang="en-US" sz="1400" b="1" dirty="0"/>
              <a:t>oils and fats</a:t>
            </a:r>
            <a:r>
              <a:rPr lang="en-US" sz="1400" dirty="0"/>
              <a:t> prices in both urban and rural settings, likely due to shared production and shipping costs. The negative correlation for </a:t>
            </a:r>
            <a:r>
              <a:rPr lang="en-US" sz="1400" b="1" dirty="0"/>
              <a:t>eggs</a:t>
            </a:r>
            <a:r>
              <a:rPr lang="en-US" sz="1400" dirty="0"/>
              <a:t> is an anomaly, possibly driven by consumers switching to them as a cheaper protein source when other goods become more expensive.</a:t>
            </a:r>
          </a:p>
          <a:p>
            <a:endParaRPr lang="en-US" sz="1400" dirty="0"/>
          </a:p>
          <a:p>
            <a:endParaRPr lang="en-US" sz="1400" dirty="0"/>
          </a:p>
          <a:p>
            <a:endParaRPr lang="en-US" sz="1400" dirty="0"/>
          </a:p>
          <a:p>
            <a:endParaRPr lang="en-US" sz="1400" dirty="0"/>
          </a:p>
        </p:txBody>
      </p:sp>
    </p:spTree>
    <p:extLst>
      <p:ext uri="{BB962C8B-B14F-4D97-AF65-F5344CB8AC3E}">
        <p14:creationId xmlns:p14="http://schemas.microsoft.com/office/powerpoint/2010/main" val="325252412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6000"/>
            <a:lum/>
            <a:extLst>
              <a:ext uri="{837473B0-CC2E-450A-ABE3-18F120FF3D39}">
                <a1611:picAttrSrcUrl xmlns:a1611="http://schemas.microsoft.com/office/drawing/2016/11/main" r:id="rId3"/>
              </a:ext>
            </a:extLst>
          </a:blip>
          <a:srcRect/>
          <a:stretch>
            <a:fillRect t="-13000" b="-13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4F70D8-A07D-0B69-C1D7-6F72ACFE30FB}"/>
              </a:ext>
            </a:extLst>
          </p:cNvPr>
          <p:cNvSpPr txBox="1"/>
          <p:nvPr/>
        </p:nvSpPr>
        <p:spPr>
          <a:xfrm>
            <a:off x="2730500" y="1536174"/>
            <a:ext cx="7620000" cy="3785652"/>
          </a:xfrm>
          <a:prstGeom prst="rect">
            <a:avLst/>
          </a:prstGeom>
          <a:noFill/>
        </p:spPr>
        <p:txBody>
          <a:bodyPr wrap="square" rtlCol="0">
            <a:spAutoFit/>
          </a:bodyPr>
          <a:lstStyle/>
          <a:p>
            <a:pPr algn="ctr"/>
            <a:r>
              <a:rPr lang="en-US" sz="12000" dirty="0">
                <a:latin typeface="Algerian" panose="04020705040A02060702" pitchFamily="82" charset="0"/>
              </a:rPr>
              <a:t>Thank You </a:t>
            </a:r>
          </a:p>
        </p:txBody>
      </p:sp>
    </p:spTree>
    <p:extLst>
      <p:ext uri="{BB962C8B-B14F-4D97-AF65-F5344CB8AC3E}">
        <p14:creationId xmlns:p14="http://schemas.microsoft.com/office/powerpoint/2010/main" val="255214410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1723</TotalTime>
  <Words>2045</Words>
  <Application>Microsoft Office PowerPoint</Application>
  <PresentationFormat>Widescreen</PresentationFormat>
  <Paragraphs>150</Paragraphs>
  <Slides>19</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19</vt:i4>
      </vt:variant>
    </vt:vector>
  </HeadingPairs>
  <TitlesOfParts>
    <vt:vector size="32" baseType="lpstr">
      <vt:lpstr>Algerian</vt:lpstr>
      <vt:lpstr>Aparajita</vt:lpstr>
      <vt:lpstr>Arial</vt:lpstr>
      <vt:lpstr>Berlin Sans FB</vt:lpstr>
      <vt:lpstr>Bodoni MT Black</vt:lpstr>
      <vt:lpstr>Calibri</vt:lpstr>
      <vt:lpstr>Calibri Light</vt:lpstr>
      <vt:lpstr>Castellar</vt:lpstr>
      <vt:lpstr>Elephant</vt:lpstr>
      <vt:lpstr>Engravers MT</vt:lpstr>
      <vt:lpstr>Rockwell</vt:lpstr>
      <vt:lpstr>Wingdings</vt:lpstr>
      <vt:lpstr>Office Theme</vt:lpstr>
      <vt:lpstr>PowerPoint Presentation</vt:lpstr>
      <vt:lpstr>Problem Statement :- 1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HARSHIT JAIN</dc:creator>
  <cp:lastModifiedBy>HARSHIT JAIN</cp:lastModifiedBy>
  <cp:revision>31</cp:revision>
  <dcterms:created xsi:type="dcterms:W3CDTF">2025-07-15T11:01:50Z</dcterms:created>
  <dcterms:modified xsi:type="dcterms:W3CDTF">2025-09-25T13:05:06Z</dcterms:modified>
</cp:coreProperties>
</file>